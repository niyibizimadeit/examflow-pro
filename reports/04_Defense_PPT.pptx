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4"/>
  </p:normalViewPr>
  <p:slideViewPr>
    <p:cSldViewPr snapToGrid="0" snapToObjects="1">
      <p:cViewPr>
        <p:scale>
          <a:sx n="113" d="100"/>
          <a:sy n="113" d="100"/>
        </p:scale>
        <p:origin x="424" y="1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6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371600" y="1645920"/>
            <a:ext cx="54864" cy="3200400"/>
          </a:xfrm>
          <a:prstGeom prst="rect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0" y="17373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6000" b="0">
                <a:solidFill>
                  <a:srgbClr val="FFFFFF"/>
                </a:solidFill>
                <a:latin typeface="Cormorant Garamond"/>
              </a:defRPr>
            </a:pPr>
            <a:r>
              <a:t>ExamFlow Pro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6974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79"/>
              </a:spcAft>
              <a:defRPr sz="2400" b="0">
                <a:solidFill>
                  <a:srgbClr val="E8D5B5"/>
                </a:solidFill>
                <a:latin typeface="DM Sans"/>
              </a:defRPr>
            </a:pPr>
            <a:r>
              <a:t>Online Examination &amp; Intelligent Test Assembly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3566160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19"/>
              </a:spcAft>
              <a:defRPr sz="1600" b="0">
                <a:solidFill>
                  <a:srgbClr val="C4B29A"/>
                </a:solidFill>
                <a:latin typeface="DM Sans"/>
              </a:defRPr>
            </a:pPr>
            <a:r>
              <a:rPr lang="en-US" dirty="0"/>
              <a:t>Web App Development Training </a:t>
            </a:r>
            <a:r>
              <a:rPr dirty="0"/>
              <a:t>•  Taizhou University  •  June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4206240"/>
            <a:ext cx="822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9"/>
              </a:spcAft>
              <a:defRPr sz="1800" b="0">
                <a:solidFill>
                  <a:srgbClr val="B5732A"/>
                </a:solidFill>
                <a:latin typeface="DM Sans"/>
              </a:defRPr>
            </a:pPr>
            <a:r>
              <a:rPr dirty="0"/>
              <a:t>Author: </a:t>
            </a:r>
            <a:r>
              <a:rPr lang="en-US" dirty="0"/>
              <a:t>HAKIZIMFURA Eloge Chrispin</a:t>
            </a:r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2011680" y="5029200"/>
            <a:ext cx="1920240" cy="457200"/>
          </a:xfrm>
          <a:prstGeom prst="rect">
            <a:avLst/>
          </a:prstGeom>
          <a:solidFill>
            <a:srgbClr val="2A2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E8D5B5"/>
                </a:solidFill>
                <a:latin typeface="DM Sans"/>
              </a:defRPr>
            </a:pPr>
            <a:r>
              <a:t>📝 Question Bank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5029200"/>
            <a:ext cx="1920240" cy="457200"/>
          </a:xfrm>
          <a:prstGeom prst="rect">
            <a:avLst/>
          </a:prstGeom>
          <a:solidFill>
            <a:srgbClr val="2A2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E8D5B5"/>
                </a:solidFill>
                <a:latin typeface="DM Sans"/>
              </a:defRPr>
            </a:pPr>
            <a:r>
              <a:t>📄 Paper Assembly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5029200"/>
            <a:ext cx="1920240" cy="457200"/>
          </a:xfrm>
          <a:prstGeom prst="rect">
            <a:avLst/>
          </a:prstGeom>
          <a:solidFill>
            <a:srgbClr val="2A2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E8D5B5"/>
                </a:solidFill>
                <a:latin typeface="DM Sans"/>
              </a:defRPr>
            </a:pPr>
            <a:r>
              <a:t>⏱️ Real-time Exam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39" y="5029200"/>
            <a:ext cx="1920240" cy="457200"/>
          </a:xfrm>
          <a:prstGeom prst="rect">
            <a:avLst/>
          </a:prstGeom>
          <a:solidFill>
            <a:srgbClr val="2A2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E8D5B5"/>
                </a:solidFill>
                <a:latin typeface="DM Sans"/>
              </a:defRPr>
            </a:pPr>
            <a:r>
              <a:t>🤖 Auto-Grading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317632" y="5029200"/>
            <a:ext cx="1767535" cy="457200"/>
          </a:xfrm>
          <a:prstGeom prst="rect">
            <a:avLst/>
          </a:prstGeom>
          <a:solidFill>
            <a:srgbClr val="2A2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E8D5B5"/>
                </a:solidFill>
                <a:latin typeface="DM Sans"/>
              </a:defRPr>
            </a:pPr>
            <a:r>
              <a:rPr dirty="0"/>
              <a:t>📊 Score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79"/>
              </a:spcAft>
              <a:defRPr sz="900" b="0">
                <a:solidFill>
                  <a:srgbClr val="B8A18A"/>
                </a:solidFill>
                <a:latin typeface="DM Sans"/>
              </a:defRPr>
            </a:pPr>
            <a:r>
              <a:t>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79"/>
              </a:spcAft>
              <a:defRPr sz="3400" b="0">
                <a:solidFill>
                  <a:srgbClr val="1C1612"/>
                </a:solidFill>
                <a:latin typeface="Cormorant Garamond"/>
              </a:defRPr>
            </a:pPr>
            <a:r>
              <a:t>Presentation Outline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51560"/>
            <a:ext cx="2286000" cy="41148"/>
          </a:xfrm>
          <a:prstGeom prst="rect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371600" y="1554480"/>
            <a:ext cx="384048" cy="384048"/>
          </a:xfrm>
          <a:prstGeom prst="ellipse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DM San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5727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9"/>
              </a:spcAft>
              <a:defRPr sz="1800" b="0">
                <a:solidFill>
                  <a:srgbClr val="3A3028"/>
                </a:solidFill>
                <a:latin typeface="DM Sans"/>
              </a:defRPr>
            </a:pPr>
            <a:r>
              <a:t>Project Overview &amp; Objectives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2029968"/>
            <a:ext cx="384048" cy="384048"/>
          </a:xfrm>
          <a:prstGeom prst="ellipse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DM Sans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04825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9"/>
              </a:spcAft>
              <a:defRPr sz="1800" b="0">
                <a:solidFill>
                  <a:srgbClr val="3A3028"/>
                </a:solidFill>
                <a:latin typeface="DM Sans"/>
              </a:defRPr>
            </a:pPr>
            <a:r>
              <a:t>Technology Stack</a:t>
            </a:r>
          </a:p>
        </p:txBody>
      </p:sp>
      <p:sp>
        <p:nvSpPr>
          <p:cNvPr id="10" name="Oval 9"/>
          <p:cNvSpPr/>
          <p:nvPr/>
        </p:nvSpPr>
        <p:spPr>
          <a:xfrm>
            <a:off x="1371600" y="2505456"/>
            <a:ext cx="384048" cy="384048"/>
          </a:xfrm>
          <a:prstGeom prst="ellipse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DM Sans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523744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9"/>
              </a:spcAft>
              <a:defRPr sz="1800" b="0">
                <a:solidFill>
                  <a:srgbClr val="3A3028"/>
                </a:solidFill>
                <a:latin typeface="DM Sans"/>
              </a:defRPr>
            </a:pPr>
            <a:r>
              <a:t>System Architecture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2980944"/>
            <a:ext cx="384048" cy="384048"/>
          </a:xfrm>
          <a:prstGeom prst="ellipse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DM Sans"/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99923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9"/>
              </a:spcAft>
              <a:defRPr sz="1800" b="0">
                <a:solidFill>
                  <a:srgbClr val="3A3028"/>
                </a:solidFill>
                <a:latin typeface="DM Sans"/>
              </a:defRPr>
            </a:pPr>
            <a:r>
              <a:t>Database Design — 11 Tables</a:t>
            </a:r>
          </a:p>
        </p:txBody>
      </p:sp>
      <p:sp>
        <p:nvSpPr>
          <p:cNvPr id="14" name="Oval 13"/>
          <p:cNvSpPr/>
          <p:nvPr/>
        </p:nvSpPr>
        <p:spPr>
          <a:xfrm>
            <a:off x="1371600" y="3456432"/>
            <a:ext cx="384048" cy="384048"/>
          </a:xfrm>
          <a:prstGeom prst="ellipse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DM Sans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474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9"/>
              </a:spcAft>
              <a:defRPr sz="1800" b="0">
                <a:solidFill>
                  <a:srgbClr val="3A3028"/>
                </a:solidFill>
                <a:latin typeface="DM Sans"/>
              </a:defRPr>
            </a:pPr>
            <a:r>
              <a:t>Core Features Walkthrough</a:t>
            </a:r>
          </a:p>
        </p:txBody>
      </p:sp>
      <p:sp>
        <p:nvSpPr>
          <p:cNvPr id="16" name="Oval 15"/>
          <p:cNvSpPr/>
          <p:nvPr/>
        </p:nvSpPr>
        <p:spPr>
          <a:xfrm>
            <a:off x="1371600" y="3931920"/>
            <a:ext cx="384048" cy="384048"/>
          </a:xfrm>
          <a:prstGeom prst="ellipse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DM Sans"/>
              </a:defRPr>
            </a:pPr>
            <a: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95020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9"/>
              </a:spcAft>
              <a:defRPr sz="1800" b="0">
                <a:solidFill>
                  <a:srgbClr val="3A3028"/>
                </a:solidFill>
                <a:latin typeface="DM Sans"/>
              </a:defRPr>
            </a:pPr>
            <a:r>
              <a:t>Security Implementation</a:t>
            </a:r>
          </a:p>
        </p:txBody>
      </p:sp>
      <p:sp>
        <p:nvSpPr>
          <p:cNvPr id="18" name="Oval 17"/>
          <p:cNvSpPr/>
          <p:nvPr/>
        </p:nvSpPr>
        <p:spPr>
          <a:xfrm>
            <a:off x="1371600" y="4407408"/>
            <a:ext cx="384048" cy="384048"/>
          </a:xfrm>
          <a:prstGeom prst="ellipse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DM Sans"/>
              </a:defRPr>
            </a:pPr>
            <a: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42569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9"/>
              </a:spcAft>
              <a:defRPr sz="1800" b="0">
                <a:solidFill>
                  <a:srgbClr val="3A3028"/>
                </a:solidFill>
                <a:latin typeface="DM Sans"/>
              </a:defRPr>
            </a:pPr>
            <a:r>
              <a:t>Testing &amp; Results</a:t>
            </a:r>
          </a:p>
        </p:txBody>
      </p:sp>
      <p:sp>
        <p:nvSpPr>
          <p:cNvPr id="20" name="Oval 19"/>
          <p:cNvSpPr/>
          <p:nvPr/>
        </p:nvSpPr>
        <p:spPr>
          <a:xfrm>
            <a:off x="1371600" y="4882896"/>
            <a:ext cx="384048" cy="384048"/>
          </a:xfrm>
          <a:prstGeom prst="ellipse">
            <a:avLst/>
          </a:prstGeom>
          <a:solidFill>
            <a:srgbClr val="A83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DM Sans"/>
              </a:defRPr>
            </a:pPr>
            <a: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4901184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9"/>
              </a:spcAft>
              <a:defRPr sz="1800" b="0">
                <a:solidFill>
                  <a:srgbClr val="3A3028"/>
                </a:solidFill>
                <a:latin typeface="DM Sans"/>
              </a:defRPr>
            </a:pPr>
            <a:r>
              <a:t>Live Demonstration</a:t>
            </a:r>
          </a:p>
        </p:txBody>
      </p:sp>
      <p:sp>
        <p:nvSpPr>
          <p:cNvPr id="22" name="Oval 21"/>
          <p:cNvSpPr/>
          <p:nvPr/>
        </p:nvSpPr>
        <p:spPr>
          <a:xfrm>
            <a:off x="1371600" y="5358384"/>
            <a:ext cx="384048" cy="384048"/>
          </a:xfrm>
          <a:prstGeom prst="ellipse">
            <a:avLst/>
          </a:prstGeom>
          <a:solidFill>
            <a:srgbClr val="4A6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DM Sans"/>
              </a:defRPr>
            </a:pPr>
            <a:r>
              <a:t>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537667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9"/>
              </a:spcAft>
              <a:defRPr sz="1800" b="0">
                <a:solidFill>
                  <a:srgbClr val="3A3028"/>
                </a:solidFill>
                <a:latin typeface="DM Sans"/>
              </a:defRPr>
            </a:pPr>
            <a:r>
              <a:t>Challenges &amp; Solutions</a:t>
            </a:r>
          </a:p>
        </p:txBody>
      </p:sp>
      <p:sp>
        <p:nvSpPr>
          <p:cNvPr id="24" name="Oval 23"/>
          <p:cNvSpPr/>
          <p:nvPr/>
        </p:nvSpPr>
        <p:spPr>
          <a:xfrm>
            <a:off x="1329379" y="5843016"/>
            <a:ext cx="468489" cy="384048"/>
          </a:xfrm>
          <a:prstGeom prst="ellipse">
            <a:avLst/>
          </a:prstGeom>
          <a:solidFill>
            <a:srgbClr val="4A6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DM Sans"/>
              </a:defRPr>
            </a:pPr>
            <a:r>
              <a:rPr lang="en-US" sz="1100" dirty="0"/>
              <a:t>10</a:t>
            </a:r>
            <a:endParaRPr sz="1100" dirty="0"/>
          </a:p>
        </p:txBody>
      </p:sp>
      <p:sp>
        <p:nvSpPr>
          <p:cNvPr id="25" name="TextBox 24"/>
          <p:cNvSpPr txBox="1"/>
          <p:nvPr/>
        </p:nvSpPr>
        <p:spPr>
          <a:xfrm>
            <a:off x="2011680" y="5852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9"/>
              </a:spcAft>
              <a:defRPr sz="1800" b="0">
                <a:solidFill>
                  <a:srgbClr val="3A3028"/>
                </a:solidFill>
                <a:latin typeface="DM Sans"/>
              </a:defRPr>
            </a:pPr>
            <a:r>
              <a:t>Conclusion &amp; Q&amp;A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79"/>
              </a:spcAft>
              <a:defRPr sz="900" b="0">
                <a:solidFill>
                  <a:srgbClr val="B8A18A"/>
                </a:solidFill>
                <a:latin typeface="DM Sans"/>
              </a:defRPr>
            </a:pPr>
            <a: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79"/>
              </a:spcAft>
              <a:defRPr sz="3400" b="0">
                <a:solidFill>
                  <a:srgbClr val="1C1612"/>
                </a:solidFill>
                <a:latin typeface="Cormorant Garamond"/>
              </a:defRPr>
            </a:pPr>
            <a:r>
              <a:t>Project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51560"/>
            <a:ext cx="2286000" cy="41148"/>
          </a:xfrm>
          <a:prstGeom prst="rect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500" b="0">
                <a:solidFill>
                  <a:srgbClr val="B8A18A"/>
                </a:solidFill>
                <a:latin typeface="DM Sans"/>
              </a:defRPr>
            </a:pPr>
            <a:r>
              <a:t>A comprehensive online examination platform for the complete exam lifecycle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1828800"/>
            <a:ext cx="301752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97280" y="1828800"/>
            <a:ext cx="3017520" cy="45720"/>
          </a:xfrm>
          <a:prstGeom prst="rect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2103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C1612"/>
                </a:solidFill>
                <a:latin typeface="Cormorant Garamond"/>
              </a:defRPr>
            </a:pPr>
            <a:r>
              <a:t>👤 Administrator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5176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>
                <a:solidFill>
                  <a:srgbClr val="3A3028"/>
                </a:solidFill>
                <a:latin typeface="DM Sans"/>
              </a:defRPr>
            </a:pPr>
            <a:r>
              <a:t>User management</a:t>
            </a:r>
          </a:p>
          <a:p>
            <a:pPr algn="l">
              <a:spcAft>
                <a:spcPts val="400"/>
              </a:spcAft>
              <a:defRPr sz="1400">
                <a:solidFill>
                  <a:srgbClr val="3A3028"/>
                </a:solidFill>
                <a:latin typeface="DM Sans"/>
              </a:defRPr>
            </a:pPr>
            <a:r>
              <a:t>System statistics</a:t>
            </a:r>
          </a:p>
          <a:p>
            <a:pPr algn="l">
              <a:spcAft>
                <a:spcPts val="400"/>
              </a:spcAft>
              <a:defRPr sz="1400">
                <a:solidFill>
                  <a:srgbClr val="3A3028"/>
                </a:solidFill>
                <a:latin typeface="DM Sans"/>
              </a:defRPr>
            </a:pPr>
            <a:r>
              <a:t>Full system access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828800"/>
            <a:ext cx="301752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0" y="1828800"/>
            <a:ext cx="3017520" cy="45720"/>
          </a:xfrm>
          <a:prstGeom prst="rect">
            <a:avLst/>
          </a:prstGeom>
          <a:solidFill>
            <a:srgbClr val="4A6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46320" y="2103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C1612"/>
                </a:solidFill>
                <a:latin typeface="Cormorant Garamond"/>
              </a:defRPr>
            </a:pPr>
            <a:r>
              <a:t>👩‍🏫 Teacher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65176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>
                <a:solidFill>
                  <a:srgbClr val="3A3028"/>
                </a:solidFill>
                <a:latin typeface="DM Sans"/>
              </a:defRPr>
            </a:pPr>
            <a:r>
              <a:t>Question bank CRUD</a:t>
            </a:r>
          </a:p>
          <a:p>
            <a:pPr algn="l">
              <a:spcAft>
                <a:spcPts val="400"/>
              </a:spcAft>
              <a:defRPr sz="1400">
                <a:solidFill>
                  <a:srgbClr val="3A3028"/>
                </a:solidFill>
                <a:latin typeface="DM Sans"/>
              </a:defRPr>
            </a:pPr>
            <a:r>
              <a:t>Paper assembly (manual + auto)</a:t>
            </a:r>
          </a:p>
          <a:p>
            <a:pPr algn="l">
              <a:spcAft>
                <a:spcPts val="400"/>
              </a:spcAft>
              <a:defRPr sz="1400">
                <a:solidFill>
                  <a:srgbClr val="3A3028"/>
                </a:solidFill>
                <a:latin typeface="DM Sans"/>
              </a:defRPr>
            </a:pPr>
            <a:r>
              <a:t>Score analysis &amp; statistics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19" y="1828800"/>
            <a:ext cx="301752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19" y="1828800"/>
            <a:ext cx="3017520" cy="45720"/>
          </a:xfrm>
          <a:prstGeom prst="rect">
            <a:avLst/>
          </a:prstGeom>
          <a:solidFill>
            <a:srgbClr val="A83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39" y="2103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C1612"/>
                </a:solidFill>
                <a:latin typeface="Cormorant Garamond"/>
              </a:defRPr>
            </a:pPr>
            <a:r>
              <a:t>🎓 Student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39" y="265176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>
                <a:solidFill>
                  <a:srgbClr val="3A3028"/>
                </a:solidFill>
                <a:latin typeface="DM Sans"/>
              </a:defRPr>
            </a:pPr>
            <a:r>
              <a:t>Take timed online exams</a:t>
            </a:r>
          </a:p>
          <a:p>
            <a:pPr algn="l">
              <a:spcAft>
                <a:spcPts val="400"/>
              </a:spcAft>
              <a:defRPr sz="1400">
                <a:solidFill>
                  <a:srgbClr val="3A3028"/>
                </a:solidFill>
                <a:latin typeface="DM Sans"/>
              </a:defRPr>
            </a:pPr>
            <a:r>
              <a:t>Auto-save + resume support</a:t>
            </a:r>
          </a:p>
          <a:p>
            <a:pPr algn="l">
              <a:spcAft>
                <a:spcPts val="400"/>
              </a:spcAft>
              <a:defRPr sz="1400">
                <a:solidFill>
                  <a:srgbClr val="3A3028"/>
                </a:solidFill>
                <a:latin typeface="DM Sans"/>
              </a:defRPr>
            </a:pPr>
            <a:r>
              <a:t>View scores &amp; wrong answers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46634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19"/>
              </a:spcAft>
              <a:defRPr sz="3600" b="1">
                <a:solidFill>
                  <a:srgbClr val="B5732A"/>
                </a:solidFill>
                <a:latin typeface="DM San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52120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59"/>
              </a:spcAft>
              <a:defRPr sz="1300" b="0">
                <a:solidFill>
                  <a:srgbClr val="B8A18A"/>
                </a:solidFill>
                <a:latin typeface="DM Sans"/>
              </a:defRPr>
            </a:pPr>
            <a:r>
              <a:t>Roles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6634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19"/>
              </a:spcAft>
              <a:defRPr sz="3600" b="1">
                <a:solidFill>
                  <a:srgbClr val="B5732A"/>
                </a:solidFill>
                <a:latin typeface="DM San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52120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59"/>
              </a:spcAft>
              <a:defRPr sz="1300" b="0">
                <a:solidFill>
                  <a:srgbClr val="B8A18A"/>
                </a:solidFill>
                <a:latin typeface="DM Sans"/>
              </a:defRPr>
            </a:pPr>
            <a:r>
              <a:t>Question</a:t>
            </a:r>
            <a:br/>
            <a:r>
              <a:t>Types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6634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19"/>
              </a:spcAft>
              <a:defRPr sz="3600" b="1">
                <a:solidFill>
                  <a:srgbClr val="B5732A"/>
                </a:solidFill>
                <a:latin typeface="DM Sans"/>
              </a:defRPr>
            </a:pPr>
            <a:r>
              <a:t>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52120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59"/>
              </a:spcAft>
              <a:defRPr sz="1300" b="0">
                <a:solidFill>
                  <a:srgbClr val="B8A18A"/>
                </a:solidFill>
                <a:latin typeface="DM Sans"/>
              </a:defRPr>
            </a:pPr>
            <a:r>
              <a:t>Database</a:t>
            </a:r>
            <a:br/>
            <a:r>
              <a:t>Tables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46634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19"/>
              </a:spcAft>
              <a:defRPr sz="3600" b="1">
                <a:solidFill>
                  <a:srgbClr val="B5732A"/>
                </a:solidFill>
                <a:latin typeface="DM Sans"/>
              </a:defRPr>
            </a:pPr>
            <a:r>
              <a:t>30+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52120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59"/>
              </a:spcAft>
              <a:defRPr sz="1300" b="0">
                <a:solidFill>
                  <a:srgbClr val="B8A18A"/>
                </a:solidFill>
                <a:latin typeface="DM Sans"/>
              </a:defRPr>
            </a:pPr>
            <a:r>
              <a:t>API</a:t>
            </a:r>
            <a:br/>
            <a:r>
              <a:t>Endpoints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79"/>
              </a:spcAft>
              <a:defRPr sz="900" b="0">
                <a:solidFill>
                  <a:srgbClr val="B8A18A"/>
                </a:solidFill>
                <a:latin typeface="DM Sans"/>
              </a:defRPr>
            </a:pPr>
            <a: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79"/>
              </a:spcAft>
              <a:defRPr sz="3400" b="0">
                <a:solidFill>
                  <a:srgbClr val="1C1612"/>
                </a:solidFill>
                <a:latin typeface="Cormorant Garamond"/>
              </a:defRPr>
            </a:pPr>
            <a: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51560"/>
            <a:ext cx="2286000" cy="41148"/>
          </a:xfrm>
          <a:prstGeom prst="rect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25603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2560320" cy="54864"/>
          </a:xfrm>
          <a:prstGeom prst="rect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39"/>
              </a:spcAft>
              <a:defRPr sz="2200" b="1">
                <a:solidFill>
                  <a:srgbClr val="1C1612"/>
                </a:solidFill>
                <a:latin typeface="Cormorant Garamond"/>
              </a:defRPr>
            </a:pPr>
            <a: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3A3028"/>
                </a:solidFill>
                <a:latin typeface="DM Sans"/>
              </a:defRPr>
            </a:pPr>
            <a:r>
              <a:t>▸ Next.js 14 · React 18 · TypeScript 5.3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46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3A3028"/>
                </a:solidFill>
                <a:latin typeface="DM Sans"/>
              </a:defRPr>
            </a:pPr>
            <a:r>
              <a:t>▸ Tailwind CSS 3.4 · Axios · Recharts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490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3A3028"/>
                </a:solidFill>
                <a:latin typeface="DM Sans"/>
              </a:defRPr>
            </a:pPr>
            <a:r>
              <a:t>▸ Lucide Icons · JWT Decode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1828800"/>
            <a:ext cx="25603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566160" y="1828800"/>
            <a:ext cx="2560320" cy="54864"/>
          </a:xfrm>
          <a:prstGeom prst="rect">
            <a:avLst/>
          </a:prstGeom>
          <a:solidFill>
            <a:srgbClr val="4A6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40480" y="2148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39"/>
              </a:spcAft>
              <a:defRPr sz="2200" b="1">
                <a:solidFill>
                  <a:srgbClr val="1C1612"/>
                </a:solidFill>
                <a:latin typeface="Cormorant Garamond"/>
              </a:defRPr>
            </a:pPr>
            <a: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743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3A3028"/>
                </a:solidFill>
                <a:latin typeface="DM Sans"/>
              </a:defRPr>
            </a:pPr>
            <a:r>
              <a:t>▸ Spring Boot 3.2 · Java 17 · Maven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246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3A3028"/>
                </a:solidFill>
                <a:latin typeface="DM Sans"/>
              </a:defRPr>
            </a:pPr>
            <a:r>
              <a:t>▸ Spring Security · Spring Data JPA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7490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3A3028"/>
                </a:solidFill>
                <a:latin typeface="DM Sans"/>
              </a:defRPr>
            </a:pPr>
            <a:r>
              <a:t>▸ JJWT 0.11.5 · Lombok · Validation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828800"/>
            <a:ext cx="25603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0" y="1828800"/>
            <a:ext cx="2560320" cy="54864"/>
          </a:xfrm>
          <a:prstGeom prst="rect">
            <a:avLst/>
          </a:prstGeom>
          <a:solidFill>
            <a:srgbClr val="A83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75120" y="2148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39"/>
              </a:spcAft>
              <a:defRPr sz="2200" b="1">
                <a:solidFill>
                  <a:srgbClr val="1C1612"/>
                </a:solidFill>
                <a:latin typeface="Cormorant Garamond"/>
              </a:defRPr>
            </a:pPr>
            <a:r>
              <a:t>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743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3A3028"/>
                </a:solidFill>
                <a:latin typeface="DM Sans"/>
              </a:defRPr>
            </a:pPr>
            <a:r>
              <a:t>▸ MySQL 8 · InnoDB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246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3A3028"/>
                </a:solidFill>
                <a:latin typeface="DM Sans"/>
              </a:defRPr>
            </a:pPr>
            <a:r>
              <a:t>▸ utf8mb4 encoding · 11 Tables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7490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3A3028"/>
                </a:solidFill>
                <a:latin typeface="DM Sans"/>
              </a:defRPr>
            </a:pPr>
            <a:r>
              <a:t>▸ BCrypt password hashing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35440" y="1828800"/>
            <a:ext cx="25603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235440" y="1828800"/>
            <a:ext cx="2560320" cy="54864"/>
          </a:xfrm>
          <a:prstGeom prst="rect">
            <a:avLst/>
          </a:prstGeom>
          <a:solidFill>
            <a:srgbClr val="D4B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509760" y="2148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39"/>
              </a:spcAft>
              <a:defRPr sz="2200" b="1">
                <a:solidFill>
                  <a:srgbClr val="1C1612"/>
                </a:solidFill>
                <a:latin typeface="Cormorant Garamond"/>
              </a:defRPr>
            </a:pPr>
            <a:r>
              <a:t>Security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2743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3A3028"/>
                </a:solidFill>
                <a:latin typeface="DM Sans"/>
              </a:defRPr>
            </a:pPr>
            <a:r>
              <a:t>▸ JWT (HMAC-SHA256) · Stateless Auth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3246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3A3028"/>
                </a:solidFill>
                <a:latin typeface="DM Sans"/>
              </a:defRPr>
            </a:pPr>
            <a:r>
              <a:t>▸ Role-Based Access Control (3 tiers)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0" y="37490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3A3028"/>
                </a:solidFill>
                <a:latin typeface="DM Sans"/>
              </a:defRPr>
            </a:pPr>
            <a:r>
              <a:t>▸ CORS · Middleware Guards · Ownership Checks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39"/>
              </a:spcAft>
              <a:defRPr sz="1200" b="0">
                <a:solidFill>
                  <a:srgbClr val="B8A18A"/>
                </a:solidFill>
                <a:latin typeface="DM Sans"/>
              </a:defRPr>
            </a:pPr>
            <a:r>
              <a:t>Why?  Modern SPA + REST API architecture  ·  Stateless JWT for scalability  ·  Production-grade MySQL  ·  Type safety across the stack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79"/>
              </a:spcAft>
              <a:defRPr sz="900" b="0">
                <a:solidFill>
                  <a:srgbClr val="B8A18A"/>
                </a:solidFill>
                <a:latin typeface="DM Sans"/>
              </a:defRPr>
            </a:pPr>
            <a: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79"/>
              </a:spcAft>
              <a:defRPr sz="3400" b="0">
                <a:solidFill>
                  <a:srgbClr val="1C1612"/>
                </a:solidFill>
                <a:latin typeface="Cormorant Garamond"/>
              </a:defRPr>
            </a:pPr>
            <a: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51560"/>
            <a:ext cx="2286000" cy="41148"/>
          </a:xfrm>
          <a:prstGeom prst="rect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2000" y="1166707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500" b="0">
                <a:solidFill>
                  <a:srgbClr val="B8A18A"/>
                </a:solidFill>
                <a:latin typeface="DM Sans"/>
              </a:defRPr>
            </a:pPr>
            <a:r>
              <a:rPr dirty="0"/>
              <a:t>Decoupled frontend-backend design with multi-layer security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1542909"/>
            <a:ext cx="996696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97280" y="1529363"/>
            <a:ext cx="54864" cy="1005840"/>
          </a:xfrm>
          <a:prstGeom prst="rect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63040" y="154290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80"/>
              </a:spcAft>
              <a:defRPr sz="1400" b="1">
                <a:solidFill>
                  <a:srgbClr val="B5732A"/>
                </a:solidFill>
                <a:latin typeface="DM Sans"/>
              </a:defRPr>
            </a:pPr>
            <a:r>
              <a:rPr dirty="0"/>
              <a:t>CLIENT — </a:t>
            </a:r>
            <a:r>
              <a:rPr dirty="0" err="1"/>
              <a:t>Next.js</a:t>
            </a:r>
            <a:r>
              <a:rPr dirty="0"/>
              <a:t> 14 (React 18 + TypeScript)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828800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3A3028"/>
                </a:solidFill>
                <a:latin typeface="DM Sans"/>
              </a:defRPr>
            </a:pPr>
            <a:r>
              <a:t>/admin Pages  ·  /teacher Pages  ·  /student Pages</a:t>
            </a:r>
            <a:br/>
            <a:r>
              <a:t>middleware.ts (JWT role guard)  ·  lib/api.ts (Axios + Bearer token)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063240"/>
            <a:ext cx="996696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97280" y="3063240"/>
            <a:ext cx="54864" cy="1005840"/>
          </a:xfrm>
          <a:prstGeom prst="rect">
            <a:avLst/>
          </a:prstGeom>
          <a:solidFill>
            <a:srgbClr val="B8A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63040" y="3154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80"/>
              </a:spcAft>
              <a:defRPr sz="1400" b="1">
                <a:solidFill>
                  <a:srgbClr val="B8A18A"/>
                </a:solidFill>
                <a:latin typeface="DM Sans"/>
              </a:defRPr>
            </a:pPr>
            <a:r>
              <a:t>REST API — JSON + Bearer JWT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520440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3A3028"/>
                </a:solidFill>
                <a:latin typeface="DM Sans"/>
              </a:defRPr>
            </a:pPr>
            <a:r>
              <a:t>HTTP on localhost:3000 → localhost:8080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3760329"/>
            <a:ext cx="996696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Rectangle 15"/>
          <p:cNvSpPr/>
          <p:nvPr/>
        </p:nvSpPr>
        <p:spPr>
          <a:xfrm>
            <a:off x="1097280" y="3753443"/>
            <a:ext cx="54864" cy="1005840"/>
          </a:xfrm>
          <a:prstGeom prst="rect">
            <a:avLst/>
          </a:prstGeom>
          <a:solidFill>
            <a:srgbClr val="4A6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463040" y="3840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80"/>
              </a:spcAft>
              <a:defRPr sz="1400" b="1">
                <a:solidFill>
                  <a:srgbClr val="4A6E30"/>
                </a:solidFill>
                <a:latin typeface="DM Sans"/>
              </a:defRPr>
            </a:pPr>
            <a:r>
              <a:t>SPRING BOOT 3.2 — Java 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114800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3A3028"/>
                </a:solidFill>
                <a:latin typeface="DM Sans"/>
              </a:defRPr>
            </a:pPr>
            <a:r>
              <a:t>7 Controllers → 5 Services → 10 Repositories</a:t>
            </a:r>
            <a:br/>
            <a:r>
              <a:t>JwtAuthFilter → SecurityConfig → BCrypt</a:t>
            </a:r>
            <a:br/>
            <a:r>
              <a:t>CORS: localhost:3000 only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5394960"/>
            <a:ext cx="996696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97280" y="5394960"/>
            <a:ext cx="54864" cy="1005840"/>
          </a:xfrm>
          <a:prstGeom prst="rect">
            <a:avLst/>
          </a:prstGeom>
          <a:solidFill>
            <a:srgbClr val="A83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463040" y="5486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80"/>
              </a:spcAft>
              <a:defRPr sz="1400" b="1">
                <a:solidFill>
                  <a:srgbClr val="A83838"/>
                </a:solidFill>
                <a:latin typeface="DM Sans"/>
              </a:defRPr>
            </a:pPr>
            <a:r>
              <a:t>MySQL 8 — 11 Tables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852160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3A3028"/>
                </a:solidFill>
                <a:latin typeface="DM Sans"/>
              </a:defRPr>
            </a:pPr>
            <a:r>
              <a:t>users · categories · questions · question_options · question_std_answers</a:t>
            </a:r>
            <a:br/>
            <a:r>
              <a:t>exam_papers · paper_questions · assembly_rules</a:t>
            </a:r>
            <a:br/>
            <a:r>
              <a:t>exam_sessions · student_answers · score_records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79"/>
              </a:spcAft>
              <a:defRPr sz="900" b="0">
                <a:solidFill>
                  <a:srgbClr val="B8A18A"/>
                </a:solidFill>
                <a:latin typeface="DM Sans"/>
              </a:defRPr>
            </a:pPr>
            <a: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79"/>
              </a:spcAft>
              <a:defRPr sz="3400" b="0">
                <a:solidFill>
                  <a:srgbClr val="1C1612"/>
                </a:solidFill>
                <a:latin typeface="Cormorant Garamond"/>
              </a:defRPr>
            </a:pPr>
            <a:r>
              <a:t>Database Design — 11 Normalized Tables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51560"/>
            <a:ext cx="2286000" cy="41148"/>
          </a:xfrm>
          <a:prstGeom prst="rect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269748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2697480" cy="411480"/>
          </a:xfrm>
          <a:prstGeom prst="rect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80"/>
              </a:spcAft>
              <a:defRPr sz="1400" b="1">
                <a:solidFill>
                  <a:srgbClr val="FFFFFF"/>
                </a:solidFill>
                <a:latin typeface="DM Sans"/>
              </a:defRPr>
            </a:pPr>
            <a:r>
              <a:t>Core Entities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9"/>
              </a:spcAft>
              <a:defRPr sz="1300" b="1">
                <a:solidFill>
                  <a:srgbClr val="B5732A"/>
                </a:solidFill>
                <a:latin typeface="Cormorant Garamond"/>
              </a:defRPr>
            </a:pPr>
            <a:r>
              <a:t>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3A3028"/>
                </a:solidFill>
                <a:latin typeface="DM Sans"/>
              </a:defRPr>
            </a:pPr>
            <a:r>
              <a:t>All system users (Admin/Teacher/Student)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8036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79"/>
              </a:spcAft>
              <a:defRPr sz="900" b="0">
                <a:solidFill>
                  <a:srgbClr val="B8A18A"/>
                </a:solidFill>
                <a:latin typeface="DM Sans"/>
              </a:defRPr>
            </a:pPr>
            <a:r>
              <a:t>PK: id · UQ: email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6616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9"/>
              </a:spcAft>
              <a:defRPr sz="1300" b="1">
                <a:solidFill>
                  <a:srgbClr val="B5732A"/>
                </a:solidFill>
                <a:latin typeface="Cormorant Garamond"/>
              </a:defRPr>
            </a:pPr>
            <a:r>
              <a:t>categories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862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3A3028"/>
                </a:solidFill>
                <a:latin typeface="DM Sans"/>
              </a:defRPr>
            </a:pPr>
            <a:r>
              <a:t>Question categories (tree structure)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5196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79"/>
              </a:spcAft>
              <a:defRPr sz="900" b="0">
                <a:solidFill>
                  <a:srgbClr val="B8A18A"/>
                </a:solidFill>
                <a:latin typeface="DM Sans"/>
              </a:defRPr>
            </a:pPr>
            <a:r>
              <a:t>FK: parent_id, created_by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3776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9"/>
              </a:spcAft>
              <a:defRPr sz="1300" b="1">
                <a:solidFill>
                  <a:srgbClr val="B5732A"/>
                </a:solidFill>
                <a:latin typeface="Cormorant Garamond"/>
              </a:defRPr>
            </a:pPr>
            <a:r>
              <a:t>questions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2578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3A3028"/>
                </a:solidFill>
                <a:latin typeface="DM Sans"/>
              </a:defRPr>
            </a:pPr>
            <a:r>
              <a:t>Question bank — 4 types, 3 difficulties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62356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79"/>
              </a:spcAft>
              <a:defRPr sz="900" b="0">
                <a:solidFill>
                  <a:srgbClr val="B8A18A"/>
                </a:solidFill>
                <a:latin typeface="DM Sans"/>
              </a:defRPr>
            </a:pPr>
            <a:r>
              <a:t>FK: category_id, created_by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29000" y="1645920"/>
            <a:ext cx="269748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429000" y="1645920"/>
            <a:ext cx="2697480" cy="411480"/>
          </a:xfrm>
          <a:prstGeom prst="rect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66160" y="169164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80"/>
              </a:spcAft>
              <a:defRPr sz="1400" b="1">
                <a:solidFill>
                  <a:srgbClr val="FFFFFF"/>
                </a:solidFill>
                <a:latin typeface="DM Sans"/>
              </a:defRPr>
            </a:pPr>
            <a:r>
              <a:t>Answer Metadata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219456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9"/>
              </a:spcAft>
              <a:defRPr sz="1300" b="1">
                <a:solidFill>
                  <a:srgbClr val="B5732A"/>
                </a:solidFill>
                <a:latin typeface="Cormorant Garamond"/>
              </a:defRPr>
            </a:pPr>
            <a:r>
              <a:t>question_options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25146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3A3028"/>
                </a:solidFill>
                <a:latin typeface="DM Sans"/>
              </a:defRPr>
            </a:pPr>
            <a:r>
              <a:t>MCQ &amp; T/F choices with is_correct flag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288036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79"/>
              </a:spcAft>
              <a:defRPr sz="900" b="0">
                <a:solidFill>
                  <a:srgbClr val="B8A18A"/>
                </a:solidFill>
                <a:latin typeface="DM Sans"/>
              </a:defRPr>
            </a:pPr>
            <a:r>
              <a:t>FK: question_id (CASCADE)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356616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9"/>
              </a:spcAft>
              <a:defRPr sz="1300" b="1">
                <a:solidFill>
                  <a:srgbClr val="B5732A"/>
                </a:solidFill>
                <a:latin typeface="Cormorant Garamond"/>
              </a:defRPr>
            </a:pPr>
            <a:r>
              <a:t>question_std_answers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80" y="38862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3A3028"/>
                </a:solidFill>
                <a:latin typeface="DM Sans"/>
              </a:defRPr>
            </a:pPr>
            <a:r>
              <a:t>Fill-in-blank answers with match mode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1880" y="425196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79"/>
              </a:spcAft>
              <a:defRPr sz="900" b="0">
                <a:solidFill>
                  <a:srgbClr val="B8A18A"/>
                </a:solidFill>
                <a:latin typeface="DM Sans"/>
              </a:defRPr>
            </a:pPr>
            <a:r>
              <a:t>FK: question_id (CASCADE)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59" y="1645920"/>
            <a:ext cx="269748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309359" y="1645920"/>
            <a:ext cx="2697480" cy="411480"/>
          </a:xfrm>
          <a:prstGeom prst="rect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46519" y="169164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80"/>
              </a:spcAft>
              <a:defRPr sz="1400" b="1">
                <a:solidFill>
                  <a:srgbClr val="FFFFFF"/>
                </a:solidFill>
                <a:latin typeface="DM Sans"/>
              </a:defRPr>
            </a:pPr>
            <a:r>
              <a:t>Paper 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39" y="219456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9"/>
              </a:spcAft>
              <a:defRPr sz="1300" b="1">
                <a:solidFill>
                  <a:srgbClr val="B5732A"/>
                </a:solidFill>
                <a:latin typeface="Cormorant Garamond"/>
              </a:defRPr>
            </a:pPr>
            <a:r>
              <a:t>exam_papers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39" y="25146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3A3028"/>
                </a:solidFill>
                <a:latin typeface="DM Sans"/>
              </a:defRPr>
            </a:pPr>
            <a:r>
              <a:t>Paper metadata and lifecycle state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39" y="288036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79"/>
              </a:spcAft>
              <a:defRPr sz="900" b="0">
                <a:solidFill>
                  <a:srgbClr val="B8A18A"/>
                </a:solidFill>
                <a:latin typeface="DM Sans"/>
              </a:defRPr>
            </a:pPr>
            <a:r>
              <a:t>FK: created_by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39" y="356616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9"/>
              </a:spcAft>
              <a:defRPr sz="1300" b="1">
                <a:solidFill>
                  <a:srgbClr val="B5732A"/>
                </a:solidFill>
                <a:latin typeface="Cormorant Garamond"/>
              </a:defRPr>
            </a:pPr>
            <a:r>
              <a:t>paper_questions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39" y="38862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3A3028"/>
                </a:solidFill>
                <a:latin typeface="DM Sans"/>
              </a:defRPr>
            </a:pPr>
            <a:r>
              <a:t>Rich join: order_num + per-paper score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39" y="425196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79"/>
              </a:spcAft>
              <a:defRPr sz="900" b="0">
                <a:solidFill>
                  <a:srgbClr val="B8A18A"/>
                </a:solidFill>
                <a:latin typeface="DM Sans"/>
              </a:defRPr>
            </a:pPr>
            <a:r>
              <a:t>FK: paper_id, question_id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39" y="493776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9"/>
              </a:spcAft>
              <a:defRPr sz="1300" b="1">
                <a:solidFill>
                  <a:srgbClr val="B5732A"/>
                </a:solidFill>
                <a:latin typeface="Cormorant Garamond"/>
              </a:defRPr>
            </a:pPr>
            <a:r>
              <a:t>assembly_rules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39" y="52578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3A3028"/>
                </a:solidFill>
                <a:latin typeface="DM Sans"/>
              </a:defRPr>
            </a:pPr>
            <a:r>
              <a:t>Rule-based auto-assembly config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39" y="562356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79"/>
              </a:spcAft>
              <a:defRPr sz="900" b="0">
                <a:solidFill>
                  <a:srgbClr val="B8A18A"/>
                </a:solidFill>
                <a:latin typeface="DM Sans"/>
              </a:defRPr>
            </a:pPr>
            <a:r>
              <a:t>FK: paper_id (CASCADE)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89719" y="1645920"/>
            <a:ext cx="269748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89719" y="1645920"/>
            <a:ext cx="2697480" cy="411480"/>
          </a:xfrm>
          <a:prstGeom prst="rect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326879" y="169164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80"/>
              </a:spcAft>
              <a:defRPr sz="1400" b="1">
                <a:solidFill>
                  <a:srgbClr val="FFFFFF"/>
                </a:solidFill>
                <a:latin typeface="DM Sans"/>
              </a:defRPr>
            </a:pPr>
            <a:r>
              <a:t>Exam &amp; Results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72599" y="219456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9"/>
              </a:spcAft>
              <a:defRPr sz="1300" b="1">
                <a:solidFill>
                  <a:srgbClr val="B5732A"/>
                </a:solidFill>
                <a:latin typeface="Cormorant Garamond"/>
              </a:defRPr>
            </a:pPr>
            <a:r>
              <a:t>exam_sessions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72599" y="25146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3A3028"/>
                </a:solidFill>
                <a:latin typeface="DM Sans"/>
              </a:defRPr>
            </a:pPr>
            <a:r>
              <a:t>Student exam attempts (IN_PROGRESS/SUBMITTED/GRADED)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72599" y="288036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79"/>
              </a:spcAft>
              <a:defRPr sz="900" b="0">
                <a:solidFill>
                  <a:srgbClr val="B8A18A"/>
                </a:solidFill>
                <a:latin typeface="DM Sans"/>
              </a:defRPr>
            </a:pPr>
            <a:r>
              <a:t>UQ: (paper_id, student_id)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72599" y="356616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9"/>
              </a:spcAft>
              <a:defRPr sz="1300" b="1">
                <a:solidFill>
                  <a:srgbClr val="B5732A"/>
                </a:solidFill>
                <a:latin typeface="Cormorant Garamond"/>
              </a:defRPr>
            </a:pPr>
            <a:r>
              <a:t>student_answers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72599" y="38862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3A3028"/>
                </a:solidFill>
                <a:latin typeface="DM Sans"/>
              </a:defRPr>
            </a:pPr>
            <a:r>
              <a:t>Per-question answers per session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72599" y="425196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79"/>
              </a:spcAft>
              <a:defRPr sz="900" b="0">
                <a:solidFill>
                  <a:srgbClr val="B8A18A"/>
                </a:solidFill>
                <a:latin typeface="DM Sans"/>
              </a:defRPr>
            </a:pPr>
            <a:r>
              <a:t>FK: session_id (CASCADE)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72599" y="493776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9"/>
              </a:spcAft>
              <a:defRPr sz="1300" b="1">
                <a:solidFill>
                  <a:srgbClr val="B5732A"/>
                </a:solidFill>
                <a:latin typeface="Cormorant Garamond"/>
              </a:defRPr>
            </a:pPr>
            <a:r>
              <a:t>score_records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72599" y="52578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3A3028"/>
                </a:solidFill>
                <a:latin typeface="DM Sans"/>
              </a:defRPr>
            </a:pPr>
            <a:r>
              <a:t>Final graded score + pass/fail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72599" y="562356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79"/>
              </a:spcAft>
              <a:defRPr sz="900" b="0">
                <a:solidFill>
                  <a:srgbClr val="B8A18A"/>
                </a:solidFill>
                <a:latin typeface="DM Sans"/>
              </a:defRPr>
            </a:pPr>
            <a:r>
              <a:t>UQ: session_id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64922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19"/>
              </a:spcAft>
              <a:defRPr sz="1100" b="0">
                <a:solidFill>
                  <a:srgbClr val="B8A18A"/>
                </a:solidFill>
                <a:latin typeface="DM Sans"/>
              </a:defRPr>
            </a:pPr>
            <a:r>
              <a:t>Key Design: Polymorphic answers (no NULL columns)  ·  paper_questions is a rich join entity  ·  Assembly rules stored as data  ·  Cascade deletes for clean cleanup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79"/>
              </a:spcAft>
              <a:defRPr sz="900" b="0">
                <a:solidFill>
                  <a:srgbClr val="B8A18A"/>
                </a:solidFill>
                <a:latin typeface="DM Sans"/>
              </a:defRPr>
            </a:pPr>
            <a: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79"/>
              </a:spcAft>
              <a:defRPr sz="3400" b="0">
                <a:solidFill>
                  <a:srgbClr val="1C1612"/>
                </a:solidFill>
                <a:latin typeface="Cormorant Garamond"/>
              </a:defRPr>
            </a:pPr>
            <a:r>
              <a:t>Core Features — Complete Exam Lifecycle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51560"/>
            <a:ext cx="2286000" cy="41148"/>
          </a:xfrm>
          <a:prstGeom prst="rect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34290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3429000" cy="54864"/>
          </a:xfrm>
          <a:prstGeom prst="rect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5840" y="2011680"/>
            <a:ext cx="548640" cy="548640"/>
          </a:xfrm>
          <a:prstGeom prst="ellipse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057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C1612"/>
                </a:solidFill>
                <a:latin typeface="Cormorant Garamond"/>
              </a:defRPr>
            </a:pPr>
            <a:r>
              <a:t>Question Bank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43200"/>
            <a:ext cx="2880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>
                <a:solidFill>
                  <a:srgbClr val="3A3028"/>
                </a:solidFill>
                <a:latin typeface="DM Sans"/>
              </a:defRPr>
            </a:pPr>
            <a:r>
              <a:t>4 question types</a:t>
            </a:r>
          </a:p>
          <a:p>
            <a:pPr algn="l">
              <a:spcAft>
                <a:spcPts val="400"/>
              </a:spcAft>
              <a:defRPr sz="1400">
                <a:solidFill>
                  <a:srgbClr val="3A3028"/>
                </a:solidFill>
                <a:latin typeface="DM Sans"/>
              </a:defRPr>
            </a:pPr>
            <a:r>
              <a:t>Categories &amp; difficulty</a:t>
            </a:r>
          </a:p>
          <a:p>
            <a:pPr algn="l">
              <a:spcAft>
                <a:spcPts val="400"/>
              </a:spcAft>
              <a:defRPr sz="1400">
                <a:solidFill>
                  <a:srgbClr val="3A3028"/>
                </a:solidFill>
                <a:latin typeface="DM Sans"/>
              </a:defRPr>
            </a:pPr>
            <a:r>
              <a:t>Search &amp; filter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26280" y="1737360"/>
            <a:ext cx="34290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26280" y="1737360"/>
            <a:ext cx="3429000" cy="54864"/>
          </a:xfrm>
          <a:prstGeom prst="rect">
            <a:avLst/>
          </a:prstGeom>
          <a:solidFill>
            <a:srgbClr val="4A6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800600" y="2011680"/>
            <a:ext cx="548640" cy="548640"/>
          </a:xfrm>
          <a:prstGeom prst="ellipse">
            <a:avLst/>
          </a:prstGeom>
          <a:solidFill>
            <a:srgbClr val="4A6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2120" y="2057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C1612"/>
                </a:solidFill>
                <a:latin typeface="Cormorant Garamond"/>
              </a:defRPr>
            </a:pPr>
            <a:r>
              <a:t>Paper Assembly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743200"/>
            <a:ext cx="2880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>
                <a:solidFill>
                  <a:srgbClr val="3A3028"/>
                </a:solidFill>
                <a:latin typeface="DM Sans"/>
              </a:defRPr>
            </a:pPr>
            <a:r>
              <a:t>Manual selection</a:t>
            </a:r>
          </a:p>
          <a:p>
            <a:pPr algn="l">
              <a:spcAft>
                <a:spcPts val="400"/>
              </a:spcAft>
              <a:defRPr sz="1400">
                <a:solidFill>
                  <a:srgbClr val="3A3028"/>
                </a:solidFill>
                <a:latin typeface="DM Sans"/>
              </a:defRPr>
            </a:pPr>
            <a:r>
              <a:t>Rule-based auto-generation</a:t>
            </a:r>
          </a:p>
          <a:p>
            <a:pPr algn="l">
              <a:spcAft>
                <a:spcPts val="400"/>
              </a:spcAft>
              <a:defRPr sz="1400">
                <a:solidFill>
                  <a:srgbClr val="3A3028"/>
                </a:solidFill>
                <a:latin typeface="DM Sans"/>
              </a:defRPr>
            </a:pPr>
            <a:r>
              <a:t>Randomized shuffling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1737360"/>
            <a:ext cx="34290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321040" y="1737360"/>
            <a:ext cx="3429000" cy="54864"/>
          </a:xfrm>
          <a:prstGeom prst="rect">
            <a:avLst/>
          </a:prstGeom>
          <a:solidFill>
            <a:srgbClr val="A83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595360" y="2011680"/>
            <a:ext cx="548640" cy="548640"/>
          </a:xfrm>
          <a:prstGeom prst="ellipse">
            <a:avLst/>
          </a:prstGeom>
          <a:solidFill>
            <a:srgbClr val="A83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⏱️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057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C1612"/>
                </a:solidFill>
                <a:latin typeface="Cormorant Garamond"/>
              </a:defRPr>
            </a:pPr>
            <a:r>
              <a:t>Exam Session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2743200"/>
            <a:ext cx="2880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>
                <a:solidFill>
                  <a:srgbClr val="3A3028"/>
                </a:solidFill>
                <a:latin typeface="DM Sans"/>
              </a:defRPr>
            </a:pPr>
            <a:r>
              <a:t>Countdown timer</a:t>
            </a:r>
          </a:p>
          <a:p>
            <a:pPr algn="l">
              <a:spcAft>
                <a:spcPts val="400"/>
              </a:spcAft>
              <a:defRPr sz="1400">
                <a:solidFill>
                  <a:srgbClr val="3A3028"/>
                </a:solidFill>
                <a:latin typeface="DM Sans"/>
              </a:defRPr>
            </a:pPr>
            <a:r>
              <a:t>30s auto-save</a:t>
            </a:r>
          </a:p>
          <a:p>
            <a:pPr algn="l">
              <a:spcAft>
                <a:spcPts val="400"/>
              </a:spcAft>
              <a:defRPr sz="1400">
                <a:solidFill>
                  <a:srgbClr val="3A3028"/>
                </a:solidFill>
                <a:latin typeface="DM Sans"/>
              </a:defRPr>
            </a:pPr>
            <a:r>
              <a:t>Crash resume support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023360"/>
            <a:ext cx="34290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1520" y="4023360"/>
            <a:ext cx="3429000" cy="54864"/>
          </a:xfrm>
          <a:prstGeom prst="rect">
            <a:avLst/>
          </a:prstGeom>
          <a:solidFill>
            <a:srgbClr val="8B6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05840" y="4297680"/>
            <a:ext cx="548640" cy="548640"/>
          </a:xfrm>
          <a:prstGeom prst="ellipse">
            <a:avLst/>
          </a:prstGeom>
          <a:solidFill>
            <a:srgbClr val="8B6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343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C1612"/>
                </a:solidFill>
                <a:latin typeface="Cormorant Garamond"/>
              </a:defRPr>
            </a:pPr>
            <a:r>
              <a:t>Auto-Grading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029200"/>
            <a:ext cx="2880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>
                <a:solidFill>
                  <a:srgbClr val="3A3028"/>
                </a:solidFill>
                <a:latin typeface="DM Sans"/>
              </a:defRPr>
            </a:pPr>
            <a:r>
              <a:t>4 grading strategies</a:t>
            </a:r>
          </a:p>
          <a:p>
            <a:pPr algn="l">
              <a:spcAft>
                <a:spcPts val="400"/>
              </a:spcAft>
              <a:defRPr sz="1400">
                <a:solidFill>
                  <a:srgbClr val="3A3028"/>
                </a:solidFill>
                <a:latin typeface="DM Sans"/>
              </a:defRPr>
            </a:pPr>
            <a:r>
              <a:t>Configurable matching</a:t>
            </a:r>
          </a:p>
          <a:p>
            <a:pPr algn="l">
              <a:spcAft>
                <a:spcPts val="400"/>
              </a:spcAft>
              <a:defRPr sz="1400">
                <a:solidFill>
                  <a:srgbClr val="3A3028"/>
                </a:solidFill>
                <a:latin typeface="DM Sans"/>
              </a:defRPr>
            </a:pPr>
            <a:r>
              <a:t>Immediate results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26280" y="4023360"/>
            <a:ext cx="34290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26280" y="4023360"/>
            <a:ext cx="3429000" cy="54864"/>
          </a:xfrm>
          <a:prstGeom prst="rect">
            <a:avLst/>
          </a:prstGeom>
          <a:solidFill>
            <a:srgbClr val="6B8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800600" y="4297680"/>
            <a:ext cx="548640" cy="548640"/>
          </a:xfrm>
          <a:prstGeom prst="ellipse">
            <a:avLst/>
          </a:prstGeom>
          <a:solidFill>
            <a:srgbClr val="6B8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32120" y="4343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C1612"/>
                </a:solidFill>
                <a:latin typeface="Cormorant Garamond"/>
              </a:defRPr>
            </a:pPr>
            <a:r>
              <a:t>Score Analysis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5029200"/>
            <a:ext cx="2880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>
                <a:solidFill>
                  <a:srgbClr val="3A3028"/>
                </a:solidFill>
                <a:latin typeface="DM Sans"/>
              </a:defRPr>
            </a:pPr>
            <a:r>
              <a:t>Distribution bands</a:t>
            </a:r>
          </a:p>
          <a:p>
            <a:pPr algn="l">
              <a:spcAft>
                <a:spcPts val="400"/>
              </a:spcAft>
              <a:defRPr sz="1400">
                <a:solidFill>
                  <a:srgbClr val="3A3028"/>
                </a:solidFill>
                <a:latin typeface="DM Sans"/>
              </a:defRPr>
            </a:pPr>
            <a:r>
              <a:t>Pass rate &amp; statistics</a:t>
            </a:r>
          </a:p>
          <a:p>
            <a:pPr algn="l">
              <a:spcAft>
                <a:spcPts val="400"/>
              </a:spcAft>
              <a:defRPr sz="1400">
                <a:solidFill>
                  <a:srgbClr val="3A3028"/>
                </a:solidFill>
                <a:latin typeface="DM Sans"/>
              </a:defRPr>
            </a:pPr>
            <a:r>
              <a:t>Per-question breakdown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21040" y="4023360"/>
            <a:ext cx="34290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321040" y="4023360"/>
            <a:ext cx="3429000" cy="54864"/>
          </a:xfrm>
          <a:prstGeom prst="rect">
            <a:avLst/>
          </a:prstGeom>
          <a:solidFill>
            <a:srgbClr val="3E6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595360" y="4297680"/>
            <a:ext cx="548640" cy="548640"/>
          </a:xfrm>
          <a:prstGeom prst="ellipse">
            <a:avLst/>
          </a:prstGeom>
          <a:solidFill>
            <a:srgbClr val="3E6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4343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C1612"/>
                </a:solidFill>
                <a:latin typeface="Cormorant Garamond"/>
              </a:defRPr>
            </a:pPr>
            <a:r>
              <a:t>Wrong Answers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5029200"/>
            <a:ext cx="2880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>
                <a:solidFill>
                  <a:srgbClr val="3A3028"/>
                </a:solidFill>
                <a:latin typeface="DM Sans"/>
              </a:defRPr>
            </a:pPr>
            <a:r>
              <a:t>Deduplicated notebook</a:t>
            </a:r>
          </a:p>
          <a:p>
            <a:pPr algn="l">
              <a:spcAft>
                <a:spcPts val="400"/>
              </a:spcAft>
              <a:defRPr sz="1400">
                <a:solidFill>
                  <a:srgbClr val="3A3028"/>
                </a:solidFill>
                <a:latin typeface="DM Sans"/>
              </a:defRPr>
            </a:pPr>
            <a:r>
              <a:t>Correct answer + explanation</a:t>
            </a:r>
          </a:p>
          <a:p>
            <a:pPr algn="l">
              <a:spcAft>
                <a:spcPts val="400"/>
              </a:spcAft>
              <a:defRPr sz="1400">
                <a:solidFill>
                  <a:srgbClr val="3A3028"/>
                </a:solidFill>
                <a:latin typeface="DM Sans"/>
              </a:defRPr>
            </a:pPr>
            <a:r>
              <a:t>Filterable by paper/type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79"/>
              </a:spcAft>
              <a:defRPr sz="900" b="0">
                <a:solidFill>
                  <a:srgbClr val="B8A18A"/>
                </a:solidFill>
                <a:latin typeface="DM Sans"/>
              </a:defRPr>
            </a:pPr>
            <a: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79"/>
              </a:spcAft>
              <a:defRPr sz="3400" b="0">
                <a:solidFill>
                  <a:srgbClr val="1C1612"/>
                </a:solidFill>
                <a:latin typeface="Cormorant Garamond"/>
              </a:defRPr>
            </a:pPr>
            <a:r>
              <a:t>Feature: Question Bank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51560"/>
            <a:ext cx="2286000" cy="41148"/>
          </a:xfrm>
          <a:prstGeom prst="rect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500" b="0">
                <a:solidFill>
                  <a:srgbClr val="B8A18A"/>
                </a:solidFill>
                <a:latin typeface="DM Sans"/>
              </a:defRPr>
            </a:pPr>
            <a:r>
              <a:t>4 question types with polymorphic answer storage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1033272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DM Sans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B573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DM Sans"/>
                        </a:defRPr>
                      </a:pPr>
                      <a:r>
                        <a:t>Example</a:t>
                      </a:r>
                    </a:p>
                  </a:txBody>
                  <a:tcPr>
                    <a:solidFill>
                      <a:srgbClr val="B573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DM Sans"/>
                        </a:defRPr>
                      </a:pPr>
                      <a:r>
                        <a:t>Answer Storage</a:t>
                      </a:r>
                    </a:p>
                  </a:txBody>
                  <a:tcPr>
                    <a:solidFill>
                      <a:srgbClr val="B573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DM Sans"/>
                        </a:defRPr>
                      </a:pPr>
                      <a:r>
                        <a:t>Grading Method</a:t>
                      </a:r>
                    </a:p>
                  </a:txBody>
                  <a:tcPr>
                    <a:solidFill>
                      <a:srgbClr val="B573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DM Sans"/>
                        </a:defRPr>
                      </a:pPr>
                      <a:r>
                        <a:t>Match Mode</a:t>
                      </a:r>
                    </a:p>
                  </a:txBody>
                  <a:tcPr>
                    <a:solidFill>
                      <a:srgbClr val="B573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SINGLE CHOICE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"What is the default value</a:t>
                      </a:r>
                    </a:p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of an int in Java?"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question_options</a:t>
                      </a:r>
                    </a:p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(A/B/C/D with is_correct)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Label comparison</a:t>
                      </a:r>
                    </a:p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(case-insensitive)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Label match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MULTIPLE CHOICE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"Which are primitive</a:t>
                      </a:r>
                    </a:p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types? (Select all)"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question_options</a:t>
                      </a:r>
                    </a:p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(multiple is_correct=1)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Strict set equality</a:t>
                      </a:r>
                    </a:p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(all correct, no extras)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Set 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TRUE / FALSE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"Java is platform-</a:t>
                      </a:r>
                    </a:p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independent."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question_options</a:t>
                      </a:r>
                    </a:p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(T=True, F=False)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Label comparison</a:t>
                      </a:r>
                    </a:p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(T/F)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Binary match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FILL IN BLANK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"The keyword to create</a:t>
                      </a:r>
                    </a:p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an object is ____."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question_std_answers</a:t>
                      </a:r>
                    </a:p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(answer_text + match_mode)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Match against any</a:t>
                      </a:r>
                    </a:p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standard answer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EXACT / CASE_</a:t>
                      </a:r>
                    </a:p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INSENSITIVE / CONTAINS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47548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3A3028"/>
                </a:solidFill>
                <a:latin typeface="DM Sans"/>
              </a:defRPr>
            </a:pPr>
            <a:r>
              <a:t>• Content (TEXT)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3A3028"/>
                </a:solidFill>
                <a:latin typeface="DM Sans"/>
              </a:defRPr>
            </a:pPr>
            <a:r>
              <a:t>• Type (ENUM: SINGLE|MULTIPLE|TRUEFALSE|FILL)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0352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3A3028"/>
                </a:solidFill>
                <a:latin typeface="DM Sans"/>
              </a:defRPr>
            </a:pPr>
            <a:r>
              <a:t>• Category (FK → categories, tree structure)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57784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3A3028"/>
                </a:solidFill>
                <a:latin typeface="DM Sans"/>
              </a:defRPr>
            </a:pPr>
            <a:r>
              <a:t>• Difficulty (1=Easy, 2=Medium, 3=Hard)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6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3A3028"/>
                </a:solidFill>
                <a:latin typeface="DM Sans"/>
              </a:defRPr>
            </a:pPr>
            <a:r>
              <a:t>• Default Score (DECIMAL 5,2)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1264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3A3028"/>
                </a:solidFill>
                <a:latin typeface="DM Sans"/>
              </a:defRPr>
            </a:pPr>
            <a:r>
              <a:t>• Explanation (TEXT, for wrong-answer review)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79"/>
              </a:spcAft>
              <a:defRPr sz="900" b="0">
                <a:solidFill>
                  <a:srgbClr val="B8A18A"/>
                </a:solidFill>
                <a:latin typeface="DM Sans"/>
              </a:defRPr>
            </a:pPr>
            <a: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79"/>
              </a:spcAft>
              <a:defRPr sz="3400" b="0">
                <a:solidFill>
                  <a:srgbClr val="1C1612"/>
                </a:solidFill>
                <a:latin typeface="Cormorant Garamond"/>
              </a:defRPr>
            </a:pPr>
            <a:r>
              <a:t>Feature: Exam Paper Assembly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51560"/>
            <a:ext cx="2286000" cy="41148"/>
          </a:xfrm>
          <a:prstGeom prst="rect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500" b="0">
                <a:solidFill>
                  <a:srgbClr val="B8A18A"/>
                </a:solidFill>
                <a:latin typeface="DM Sans"/>
              </a:defRPr>
            </a:pPr>
            <a:r>
              <a:t>Manual selection + Rule-based intelligent auto-generation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303520" cy="457200"/>
          </a:xfrm>
          <a:prstGeom prst="rect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9"/>
              </a:spcAft>
              <a:defRPr sz="1800" b="1">
                <a:solidFill>
                  <a:srgbClr val="FFFFFF"/>
                </a:solidFill>
                <a:latin typeface="DM Sans"/>
              </a:defRPr>
            </a:pPr>
            <a:r>
              <a:t>METHOD 1: Manual 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9"/>
              </a:spcAft>
              <a:defRPr sz="1300" b="0">
                <a:solidFill>
                  <a:srgbClr val="3A3028"/>
                </a:solidFill>
                <a:latin typeface="DM Sans"/>
              </a:defRPr>
            </a:pPr>
            <a:r>
              <a:t>1. Teacher browses the Question Bank panel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2491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9"/>
              </a:spcAft>
              <a:defRPr sz="1300" b="0">
                <a:solidFill>
                  <a:srgbClr val="3A3028"/>
                </a:solidFill>
                <a:latin typeface="DM Sans"/>
              </a:defRPr>
            </a:pPr>
            <a:r>
              <a:t>2. Filters by keyword, type, or category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72384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9"/>
              </a:spcAft>
              <a:defRPr sz="1300" b="0">
                <a:solidFill>
                  <a:srgbClr val="3A3028"/>
                </a:solidFill>
                <a:latin typeface="DM Sans"/>
              </a:defRPr>
            </a:pPr>
            <a:r>
              <a:t>3. Sets per-question score in the score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19856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9"/>
              </a:spcAft>
              <a:defRPr sz="1300" b="0">
                <a:solidFill>
                  <a:srgbClr val="3A3028"/>
                </a:solidFill>
                <a:latin typeface="DM Sans"/>
              </a:defRPr>
            </a:pPr>
            <a:r>
              <a:t>4. Clicks '+ Add' → question moves to Paper panel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6732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9"/>
              </a:spcAft>
              <a:defRPr sz="1300" b="0">
                <a:solidFill>
                  <a:srgbClr val="3A3028"/>
                </a:solidFill>
                <a:latin typeface="DM Sans"/>
              </a:defRPr>
            </a:pPr>
            <a:r>
              <a:t>5. Questions are numbered sequentially (order_num)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148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9"/>
              </a:spcAft>
              <a:defRPr sz="1300" b="0">
                <a:solidFill>
                  <a:srgbClr val="3A3028"/>
                </a:solidFill>
                <a:latin typeface="DM Sans"/>
              </a:defRPr>
            </a:pPr>
            <a:r>
              <a:t>6. Teacher can remove questions anytime (DRAFT only)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6227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9"/>
              </a:spcAft>
              <a:defRPr sz="1300" b="0">
                <a:solidFill>
                  <a:srgbClr val="3A3028"/>
                </a:solidFill>
                <a:latin typeface="DM Sans"/>
              </a:defRPr>
            </a:pPr>
            <a:r>
              <a:t>7. Running total score updates automatically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1645920"/>
            <a:ext cx="5303520" cy="457200"/>
          </a:xfrm>
          <a:prstGeom prst="rect">
            <a:avLst/>
          </a:prstGeom>
          <a:solidFill>
            <a:srgbClr val="4A6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6560" y="1691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9"/>
              </a:spcAft>
              <a:defRPr sz="1800" b="1">
                <a:solidFill>
                  <a:srgbClr val="FFFFFF"/>
                </a:solidFill>
                <a:latin typeface="DM Sans"/>
              </a:defRPr>
            </a:pPr>
            <a:r>
              <a:t>METHOD 2: Rule-Based Assembly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3774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9"/>
              </a:spcAft>
              <a:defRPr sz="1300" b="0">
                <a:solidFill>
                  <a:srgbClr val="3A3028"/>
                </a:solidFill>
                <a:latin typeface="DM Sans"/>
              </a:defRPr>
            </a:pPr>
            <a:r>
              <a:t>1. Teacher defines rules: Type + Difficulty + Count + Pts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72491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9"/>
              </a:spcAft>
              <a:defRPr sz="1300" b="0">
                <a:solidFill>
                  <a:srgbClr val="3A3028"/>
                </a:solidFill>
                <a:latin typeface="DM Sans"/>
              </a:defRPr>
            </a:pPr>
            <a:r>
              <a:t>2. Each rule targets a subset of the question pool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072384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9"/>
              </a:spcAft>
              <a:defRPr sz="1300" b="0">
                <a:solidFill>
                  <a:srgbClr val="3A3028"/>
                </a:solidFill>
                <a:latin typeface="DM Sans"/>
              </a:defRPr>
            </a:pPr>
            <a:r>
              <a:t>3. System queries: questions matching type/difficulty/category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419856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9"/>
              </a:spcAft>
              <a:defRPr sz="1300" b="0">
                <a:solidFill>
                  <a:srgbClr val="3A3028"/>
                </a:solidFill>
                <a:latin typeface="DM Sans"/>
              </a:defRPr>
            </a:pPr>
            <a:r>
              <a:t>4. Validates: pool.size() ≥ rule.count → else clear error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76732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9"/>
              </a:spcAft>
              <a:defRPr sz="1300" b="0">
                <a:solidFill>
                  <a:srgbClr val="3A3028"/>
                </a:solidFill>
                <a:latin typeface="DM Sans"/>
              </a:defRPr>
            </a:pPr>
            <a:r>
              <a:t>5. Shuffles: Collections.shuffle(pool, new Random())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41148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9"/>
              </a:spcAft>
              <a:defRPr sz="1300" b="0">
                <a:solidFill>
                  <a:srgbClr val="3A3028"/>
                </a:solidFill>
                <a:latin typeface="DM Sans"/>
              </a:defRPr>
            </a:pPr>
            <a:r>
              <a:t>6. Selects: pool.subList(0, rule.count)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446227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9"/>
              </a:spcAft>
              <a:defRPr sz="1300" b="0">
                <a:solidFill>
                  <a:srgbClr val="3A3028"/>
                </a:solidFill>
                <a:latin typeface="DM Sans"/>
              </a:defRPr>
            </a:pPr>
            <a:r>
              <a:t>7. Inserts into paper_questions with order &amp; 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4809744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9"/>
              </a:spcAft>
              <a:defRPr sz="1300" b="0">
                <a:solidFill>
                  <a:srgbClr val="3A3028"/>
                </a:solidFill>
                <a:latin typeface="DM Sans"/>
              </a:defRPr>
            </a:pPr>
            <a:r>
              <a:t>8. @Transactional: all rules succeed or all roll back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2286000" y="5486400"/>
          <a:ext cx="62179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DM Sans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B573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DM Sans"/>
                        </a:defRPr>
                      </a:pPr>
                      <a:r>
                        <a:t>Level</a:t>
                      </a:r>
                    </a:p>
                  </a:txBody>
                  <a:tcPr>
                    <a:solidFill>
                      <a:srgbClr val="B573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DM Sans"/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B573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DM Sans"/>
                        </a:defRPr>
                      </a:pPr>
                      <a:r>
                        <a:t>Pts Each</a:t>
                      </a:r>
                    </a:p>
                  </a:txBody>
                  <a:tcPr>
                    <a:solidFill>
                      <a:srgbClr val="B573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DM Sans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B573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SINGLE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Any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20 pts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MULTIPLE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20 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TRUEFALSE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rPr dirty="0"/>
                        <a:t>Easy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5 pts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FILL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Hard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rPr dirty="0"/>
                        <a:t>15 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79"/>
              </a:spcAft>
              <a:defRPr sz="900" b="0">
                <a:solidFill>
                  <a:srgbClr val="B8A18A"/>
                </a:solidFill>
                <a:latin typeface="DM Sans"/>
              </a:defRPr>
            </a:pPr>
            <a: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79"/>
              </a:spcAft>
              <a:defRPr sz="3400" b="0">
                <a:solidFill>
                  <a:srgbClr val="1C1612"/>
                </a:solidFill>
                <a:latin typeface="Cormorant Garamond"/>
              </a:defRPr>
            </a:pPr>
            <a:r>
              <a:t>Feature: Real-Time Exam Session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51560"/>
            <a:ext cx="2286000" cy="41148"/>
          </a:xfrm>
          <a:prstGeom prst="rect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500" b="0">
                <a:solidFill>
                  <a:srgbClr val="B8A18A"/>
                </a:solidFill>
                <a:latin typeface="DM Sans"/>
              </a:defRPr>
            </a:pPr>
            <a:r>
              <a:t>Countdown timer · Auto-save · Question navigator · Resume support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3832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3383280" cy="45720"/>
          </a:xfrm>
          <a:prstGeom prst="rect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874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19"/>
              </a:spcAft>
              <a:defRPr sz="1600" b="1">
                <a:solidFill>
                  <a:srgbClr val="1C1612"/>
                </a:solidFill>
                <a:latin typeface="DM Sans"/>
              </a:defRPr>
            </a:pPr>
            <a:r>
              <a:t>⏱️ Countdown Timer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>
                <a:solidFill>
                  <a:srgbClr val="3A3028"/>
                </a:solidFill>
                <a:latin typeface="DM Sans"/>
              </a:defRPr>
            </a:pPr>
            <a:r>
              <a:t>Displays MM:SS with tabular-nums font</a:t>
            </a:r>
          </a:p>
          <a:p>
            <a:pPr algn="l">
              <a:spcAft>
                <a:spcPts val="400"/>
              </a:spcAft>
              <a:defRPr sz="1200">
                <a:solidFill>
                  <a:srgbClr val="3A3028"/>
                </a:solidFill>
                <a:latin typeface="DM Sans"/>
              </a:defRPr>
            </a:pPr>
            <a:r>
              <a:t>Turns red (--terracotta) when &lt; 5 minutes</a:t>
            </a:r>
          </a:p>
          <a:p>
            <a:pPr algn="l">
              <a:spcAft>
                <a:spcPts val="400"/>
              </a:spcAft>
              <a:defRPr sz="1200">
                <a:solidFill>
                  <a:srgbClr val="3A3028"/>
                </a:solidFill>
                <a:latin typeface="DM Sans"/>
              </a:defRPr>
            </a:pPr>
            <a:r>
              <a:t>Initializes from server startTime — client is display only</a:t>
            </a:r>
          </a:p>
          <a:p>
            <a:pPr algn="l">
              <a:spcAft>
                <a:spcPts val="400"/>
              </a:spcAft>
              <a:defRPr sz="1200">
                <a:solidFill>
                  <a:srgbClr val="3A3028"/>
                </a:solidFill>
                <a:latin typeface="DM Sans"/>
              </a:defRPr>
            </a:pPr>
            <a:r>
              <a:t>Auto-submit triggers when timer reaches 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59" y="1645920"/>
            <a:ext cx="33832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59" y="1645920"/>
            <a:ext cx="3383280" cy="45720"/>
          </a:xfrm>
          <a:prstGeom prst="rect">
            <a:avLst/>
          </a:prstGeom>
          <a:solidFill>
            <a:srgbClr val="4A6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09159" y="1874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19"/>
              </a:spcAft>
              <a:defRPr sz="1600" b="1">
                <a:solidFill>
                  <a:srgbClr val="1C1612"/>
                </a:solidFill>
                <a:latin typeface="DM Sans"/>
              </a:defRPr>
            </a:pPr>
            <a:r>
              <a:t>💾 Auto-Save (30s)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233172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>
                <a:solidFill>
                  <a:srgbClr val="3A3028"/>
                </a:solidFill>
                <a:latin typeface="DM Sans"/>
              </a:defRPr>
            </a:pPr>
            <a:r>
              <a:t>PUT /api/sessions/{id}/answers every 30 seconds</a:t>
            </a:r>
          </a:p>
          <a:p>
            <a:pPr algn="l">
              <a:spcAft>
                <a:spcPts val="400"/>
              </a:spcAft>
              <a:defRPr sz="1200">
                <a:solidFill>
                  <a:srgbClr val="3A3028"/>
                </a:solidFill>
                <a:latin typeface="DM Sans"/>
              </a:defRPr>
            </a:pPr>
            <a:r>
              <a:t>Uses React useRef to always access latest answers</a:t>
            </a:r>
          </a:p>
          <a:p>
            <a:pPr algn="l">
              <a:spcAft>
                <a:spcPts val="400"/>
              </a:spcAft>
              <a:defRPr sz="1200">
                <a:solidFill>
                  <a:srgbClr val="3A3028"/>
                </a:solidFill>
                <a:latin typeface="DM Sans"/>
              </a:defRPr>
            </a:pPr>
            <a:r>
              <a:t>Server upserts: finds existing answer OR creates new</a:t>
            </a:r>
          </a:p>
          <a:p>
            <a:pPr algn="l">
              <a:spcAft>
                <a:spcPts val="400"/>
              </a:spcAft>
              <a:defRPr sz="1200">
                <a:solidFill>
                  <a:srgbClr val="3A3028"/>
                </a:solidFill>
                <a:latin typeface="DM Sans"/>
              </a:defRPr>
            </a:pPr>
            <a:r>
              <a:t>Prevents data loss on browser crash or accidental close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645920"/>
            <a:ext cx="33832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0" y="1645920"/>
            <a:ext cx="3383280" cy="45720"/>
          </a:xfrm>
          <a:prstGeom prst="rect">
            <a:avLst/>
          </a:prstGeom>
          <a:solidFill>
            <a:srgbClr val="A83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58200" y="1874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19"/>
              </a:spcAft>
              <a:defRPr sz="1600" b="1">
                <a:solidFill>
                  <a:srgbClr val="1C1612"/>
                </a:solidFill>
                <a:latin typeface="DM Sans"/>
              </a:defRPr>
            </a:pPr>
            <a:r>
              <a:t>🗺️ Question Navigator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33172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>
                <a:solidFill>
                  <a:srgbClr val="3A3028"/>
                </a:solidFill>
                <a:latin typeface="DM Sans"/>
              </a:defRPr>
            </a:pPr>
            <a:r>
              <a:t>Sidebar with all question numbers</a:t>
            </a:r>
          </a:p>
          <a:p>
            <a:pPr algn="l">
              <a:spcAft>
                <a:spcPts val="400"/>
              </a:spcAft>
              <a:defRPr sz="1200">
                <a:solidFill>
                  <a:srgbClr val="3A3028"/>
                </a:solidFill>
                <a:latin typeface="DM Sans"/>
              </a:defRPr>
            </a:pPr>
            <a:r>
              <a:t>✓ Green checkmark = answered</a:t>
            </a:r>
          </a:p>
          <a:p>
            <a:pPr algn="l">
              <a:spcAft>
                <a:spcPts val="400"/>
              </a:spcAft>
              <a:defRPr sz="1200">
                <a:solidFill>
                  <a:srgbClr val="3A3028"/>
                </a:solidFill>
                <a:latin typeface="DM Sans"/>
              </a:defRPr>
            </a:pPr>
            <a:r>
              <a:t>● Amber highlight = current question</a:t>
            </a:r>
          </a:p>
          <a:p>
            <a:pPr algn="l">
              <a:spcAft>
                <a:spcPts val="400"/>
              </a:spcAft>
              <a:defRPr sz="1200">
                <a:solidFill>
                  <a:srgbClr val="3A3028"/>
                </a:solidFill>
                <a:latin typeface="DM Sans"/>
              </a:defRPr>
            </a:pPr>
            <a:r>
              <a:t>Click any number to jump directly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206240"/>
            <a:ext cx="33832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" y="4206240"/>
            <a:ext cx="3383280" cy="45720"/>
          </a:xfrm>
          <a:prstGeom prst="rect">
            <a:avLst/>
          </a:prstGeom>
          <a:solidFill>
            <a:srgbClr val="8B6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44348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19"/>
              </a:spcAft>
              <a:defRPr sz="1600" b="1">
                <a:solidFill>
                  <a:srgbClr val="1C1612"/>
                </a:solidFill>
                <a:latin typeface="DM Sans"/>
              </a:defRPr>
            </a:pPr>
            <a:r>
              <a:t>🔄 Session Resume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89204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>
                <a:solidFill>
                  <a:srgbClr val="3A3028"/>
                </a:solidFill>
                <a:latin typeface="DM Sans"/>
              </a:defRPr>
            </a:pPr>
            <a:r>
              <a:t>POST /api/sessions/start/{paperId} checks for existing session</a:t>
            </a:r>
          </a:p>
          <a:p>
            <a:pPr algn="l">
              <a:spcAft>
                <a:spcPts val="400"/>
              </a:spcAft>
              <a:defRPr sz="1200">
                <a:solidFill>
                  <a:srgbClr val="3A3028"/>
                </a:solidFill>
                <a:latin typeface="DM Sans"/>
              </a:defRPr>
            </a:pPr>
            <a:r>
              <a:t>If IN_PROGRESS → returns existing session (idempotent)</a:t>
            </a:r>
          </a:p>
          <a:p>
            <a:pPr algn="l">
              <a:spcAft>
                <a:spcPts val="400"/>
              </a:spcAft>
              <a:defRPr sz="1200">
                <a:solidFill>
                  <a:srgbClr val="3A3028"/>
                </a:solidFill>
                <a:latin typeface="DM Sans"/>
              </a:defRPr>
            </a:pPr>
            <a:r>
              <a:t>Restores all saved answers and remaining time</a:t>
            </a:r>
          </a:p>
          <a:p>
            <a:pPr algn="l">
              <a:spcAft>
                <a:spcPts val="400"/>
              </a:spcAft>
              <a:defRPr sz="1200">
                <a:solidFill>
                  <a:srgbClr val="3A3028"/>
                </a:solidFill>
                <a:latin typeface="DM Sans"/>
              </a:defRPr>
            </a:pPr>
            <a:r>
              <a:t>Prevents duplicate sessions via UNIQUE constraint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80559" y="4206240"/>
            <a:ext cx="33832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80559" y="4206240"/>
            <a:ext cx="3383280" cy="45720"/>
          </a:xfrm>
          <a:prstGeom prst="rect">
            <a:avLst/>
          </a:prstGeom>
          <a:solidFill>
            <a:srgbClr val="3E6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09159" y="44348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19"/>
              </a:spcAft>
              <a:defRPr sz="1600" b="1">
                <a:solidFill>
                  <a:srgbClr val="1C1612"/>
                </a:solidFill>
                <a:latin typeface="DM Sans"/>
              </a:defRPr>
            </a:pPr>
            <a:r>
              <a:t>🛡️ Anti-Duplicate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59" y="489204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>
                <a:solidFill>
                  <a:srgbClr val="3A3028"/>
                </a:solidFill>
                <a:latin typeface="DM Sans"/>
              </a:defRPr>
            </a:pPr>
            <a:r>
              <a:t>Service layer checks session status before submit</a:t>
            </a:r>
          </a:p>
          <a:p>
            <a:pPr algn="l">
              <a:spcAft>
                <a:spcPts val="400"/>
              </a:spcAft>
              <a:defRPr sz="1200">
                <a:solidFill>
                  <a:srgbClr val="3A3028"/>
                </a:solidFill>
                <a:latin typeface="DM Sans"/>
              </a:defRPr>
            </a:pPr>
            <a:r>
              <a:t>UNIQUE (paper_id, student_id) on exam_sessions table</a:t>
            </a:r>
          </a:p>
          <a:p>
            <a:pPr algn="l">
              <a:spcAft>
                <a:spcPts val="400"/>
              </a:spcAft>
              <a:defRPr sz="1200">
                <a:solidFill>
                  <a:srgbClr val="3A3028"/>
                </a:solidFill>
                <a:latin typeface="DM Sans"/>
              </a:defRPr>
            </a:pPr>
            <a:r>
              <a:t>"Exam already submitted" error if double-submit attempted</a:t>
            </a:r>
          </a:p>
          <a:p>
            <a:pPr algn="l">
              <a:spcAft>
                <a:spcPts val="400"/>
              </a:spcAft>
              <a:defRPr sz="1200">
                <a:solidFill>
                  <a:srgbClr val="3A3028"/>
                </a:solidFill>
                <a:latin typeface="DM Sans"/>
              </a:defRPr>
            </a:pPr>
            <a:r>
              <a:t>"Exam already completed" alert if student revisits exam page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79"/>
              </a:spcAft>
              <a:defRPr sz="900" b="0">
                <a:solidFill>
                  <a:srgbClr val="B8A18A"/>
                </a:solidFill>
                <a:latin typeface="DM Sans"/>
              </a:defRPr>
            </a:pPr>
            <a: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79"/>
              </a:spcAft>
              <a:defRPr sz="3400" b="0">
                <a:solidFill>
                  <a:srgbClr val="1C1612"/>
                </a:solidFill>
                <a:latin typeface="Cormorant Garamond"/>
              </a:defRPr>
            </a:pPr>
            <a:r>
              <a:t>Feature: Automatic Grading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51560"/>
            <a:ext cx="2286000" cy="41148"/>
          </a:xfrm>
          <a:prstGeom prst="rect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500" b="0">
                <a:solidFill>
                  <a:srgbClr val="B8A18A"/>
                </a:solidFill>
                <a:latin typeface="DM Sans"/>
              </a:defRPr>
            </a:pPr>
            <a:r>
              <a:t>4 grading strategies — immediate results after submission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45920"/>
          <a:ext cx="112471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DM Sans"/>
                        </a:defRPr>
                      </a:pPr>
                      <a:r>
                        <a:t>Question Type</a:t>
                      </a:r>
                    </a:p>
                  </a:txBody>
                  <a:tcPr>
                    <a:solidFill>
                      <a:srgbClr val="B573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DM Sans"/>
                        </a:defRPr>
                      </a:pPr>
                      <a:r>
                        <a:t>Student Answer</a:t>
                      </a:r>
                    </a:p>
                  </a:txBody>
                  <a:tcPr>
                    <a:solidFill>
                      <a:srgbClr val="B573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DM Sans"/>
                        </a:defRPr>
                      </a:pPr>
                      <a:r>
                        <a:t>Correct Answer</a:t>
                      </a:r>
                    </a:p>
                  </a:txBody>
                  <a:tcPr>
                    <a:solidFill>
                      <a:srgbClr val="B573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DM Sans"/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B573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DM Sans"/>
                        </a:defRPr>
                      </a:pPr>
                      <a:r>
                        <a:t>Strategy</a:t>
                      </a:r>
                    </a:p>
                  </a:txBody>
                  <a:tcPr>
                    <a:solidFill>
                      <a:srgbClr val="B573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SINGLE CHOICE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"A"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"A"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✅ CORRECT — full score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Label comparison</a:t>
                      </a:r>
                    </a:p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(case-insensitive)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SINGLE CHOICE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"B"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"A"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❌ WRONG — score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MULTIPLE CHOICE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"A,B,D"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{A, B, D}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✅ CORRECT — full score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Strict set equality</a:t>
                      </a:r>
                    </a:p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(all correct + no extras)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MULTIPLE CHOICE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"A,B"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{A, B, D}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❌ INCOMPLETE — score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MULTIPLE CHOICE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"A,B,C,D"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{A, B, D}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❌ EXTRA OPTION — score 0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endParaRPr/>
                    </a:p>
                  </a:txBody>
                  <a:tcPr>
                    <a:solidFill>
                      <a:srgbClr val="FA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TRUE/FALSE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"T"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"T"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✅ CORRECT — full 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Binary label 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TRUE/FALSE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"F"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"T"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❌ WRONG — score 0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endParaRPr/>
                    </a:p>
                  </a:txBody>
                  <a:tcPr>
                    <a:solidFill>
                      <a:srgbClr val="FA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FILL (CASE_INSENSITIVE)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"object"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"Object"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✅ CORRECT — full 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Any standard answer</a:t>
                      </a:r>
                    </a:p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in configured mode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FILL (EXACT)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"New"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"new"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❌ WRONG — case mismatch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endParaRPr/>
                    </a:p>
                  </a:txBody>
                  <a:tcPr>
                    <a:solidFill>
                      <a:srgbClr val="FA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31520" y="5760720"/>
            <a:ext cx="10515600" cy="822960"/>
          </a:xfrm>
          <a:prstGeom prst="rect">
            <a:avLst/>
          </a:prstGeom>
          <a:solidFill>
            <a:srgbClr val="F5ED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10058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9"/>
              </a:spcAft>
              <a:defRPr sz="1300" b="0">
                <a:solidFill>
                  <a:srgbClr val="3A3028"/>
                </a:solidFill>
                <a:latin typeface="DM Sans"/>
              </a:defRPr>
            </a:pPr>
            <a:r>
              <a:rPr sz="1200" dirty="0"/>
              <a:t>💡 Design Decision: Multiple choice uses strict set matching (no partial credit) — follows professional exam standards (CISSP, AWS, etc.).</a:t>
            </a:r>
            <a:br>
              <a:rPr sz="1200" dirty="0"/>
            </a:br>
            <a:r>
              <a:rPr sz="1200" dirty="0"/>
              <a:t>Fill-in-the-blank supports 3 configurable match modes: EXACT, CASE_INSENSITIVE, and CONTAINS — balancing fairness with rigor.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79"/>
              </a:spcAft>
              <a:defRPr sz="900" b="0">
                <a:solidFill>
                  <a:srgbClr val="B8A18A"/>
                </a:solidFill>
                <a:latin typeface="DM Sans"/>
              </a:defRPr>
            </a:pPr>
            <a: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79"/>
              </a:spcAft>
              <a:defRPr sz="3400" b="0">
                <a:solidFill>
                  <a:srgbClr val="1C1612"/>
                </a:solidFill>
                <a:latin typeface="Cormorant Garamond"/>
              </a:defRPr>
            </a:pPr>
            <a:r>
              <a:t>Feature: Score Analysis &amp; Wrong Answer Notebook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51560"/>
            <a:ext cx="2286000" cy="41148"/>
          </a:xfrm>
          <a:prstGeom prst="rect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303520" cy="411480"/>
          </a:xfrm>
          <a:prstGeom prst="rect">
            <a:avLst/>
          </a:prstGeom>
          <a:solidFill>
            <a:srgbClr val="4A6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82496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19"/>
              </a:spcAft>
              <a:defRPr sz="1600" b="1">
                <a:solidFill>
                  <a:srgbClr val="FFFFFF"/>
                </a:solidFill>
                <a:latin typeface="DM Sans"/>
              </a:defRPr>
            </a:pPr>
            <a:r>
              <a:t>👩‍🏫 TEACHER VIEW: Paper Statistics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9"/>
              </a:spcAft>
              <a:defRPr sz="1300" b="0">
                <a:solidFill>
                  <a:srgbClr val="3A3028"/>
                </a:solidFill>
                <a:latin typeface="DM Sans"/>
              </a:defRPr>
            </a:pPr>
            <a:r>
              <a:t>• Total students, average score, highest &amp; lowest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97479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9"/>
              </a:spcAft>
              <a:defRPr sz="1300" b="0">
                <a:solidFill>
                  <a:srgbClr val="3A3028"/>
                </a:solidFill>
                <a:latin typeface="DM Sans"/>
              </a:defRPr>
            </a:pPr>
            <a:r>
              <a:t>• Pass rate = students who scored ≥ pass_score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63239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9"/>
              </a:spcAft>
              <a:defRPr sz="1300" b="0">
                <a:solidFill>
                  <a:srgbClr val="3A3028"/>
                </a:solidFill>
                <a:latin typeface="DM Sans"/>
              </a:defRPr>
            </a:pPr>
            <a:r>
              <a:t>• 4-band distribution: 0-59, 60-74, 75-89, 90-100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290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9"/>
              </a:spcAft>
              <a:defRPr sz="1300" b="0">
                <a:solidFill>
                  <a:srgbClr val="3A3028"/>
                </a:solidFill>
                <a:latin typeface="DM Sans"/>
              </a:defRPr>
            </a:pPr>
            <a:r>
              <a:t>• Per-question correct rate — identifies hard Qs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947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9"/>
              </a:spcAft>
              <a:defRPr sz="1300" b="0">
                <a:solidFill>
                  <a:srgbClr val="3A3028"/>
                </a:solidFill>
                <a:latin typeface="DM Sans"/>
              </a:defRPr>
            </a:pPr>
            <a:r>
              <a:t>• Score histogram via Recharts (frontend)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605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9"/>
              </a:spcAft>
              <a:defRPr sz="1300" b="0">
                <a:solidFill>
                  <a:srgbClr val="3A3028"/>
                </a:solidFill>
                <a:latin typeface="DM Sans"/>
              </a:defRPr>
            </a:pPr>
            <a:r>
              <a:t>• Access control: only paper owner can view stats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1645920"/>
            <a:ext cx="5303520" cy="411480"/>
          </a:xfrm>
          <a:prstGeom prst="rect">
            <a:avLst/>
          </a:prstGeom>
          <a:solidFill>
            <a:srgbClr val="A83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66560" y="1682496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19"/>
              </a:spcAft>
              <a:defRPr sz="1600" b="1">
                <a:solidFill>
                  <a:srgbClr val="FFFFFF"/>
                </a:solidFill>
                <a:latin typeface="DM Sans"/>
              </a:defRPr>
            </a:pPr>
            <a:r>
              <a:t>🎓 STUDENT VIEW: Wrong Answer Notebook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3317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9"/>
              </a:spcAft>
              <a:defRPr sz="1300" b="0">
                <a:solidFill>
                  <a:srgbClr val="3A3028"/>
                </a:solidFill>
                <a:latin typeface="DM Sans"/>
              </a:defRPr>
            </a:pPr>
            <a:r>
              <a:t>• Aggregated across ALL graded exam sessions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697479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9"/>
              </a:spcAft>
              <a:defRPr sz="1300" b="0">
                <a:solidFill>
                  <a:srgbClr val="3A3028"/>
                </a:solidFill>
                <a:latin typeface="DM Sans"/>
              </a:defRPr>
            </a:pPr>
            <a:r>
              <a:t>• Deduplication: same Q wrong twice → shown once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063239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9"/>
              </a:spcAft>
              <a:defRPr sz="1300" b="0">
                <a:solidFill>
                  <a:srgbClr val="3A3028"/>
                </a:solidFill>
                <a:latin typeface="DM Sans"/>
              </a:defRPr>
            </a:pPr>
            <a:r>
              <a:t>• Each entry shows: question, my answer, correct answer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34290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9"/>
              </a:spcAft>
              <a:defRPr sz="1300" b="0">
                <a:solidFill>
                  <a:srgbClr val="3A3028"/>
                </a:solidFill>
                <a:latin typeface="DM Sans"/>
              </a:defRPr>
            </a:pPr>
            <a:r>
              <a:t>• Explanation from question bank for learning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7947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9"/>
              </a:spcAft>
              <a:defRPr sz="1300" b="0">
                <a:solidFill>
                  <a:srgbClr val="3A3028"/>
                </a:solidFill>
                <a:latin typeface="DM Sans"/>
              </a:defRPr>
            </a:pPr>
            <a:r>
              <a:t>• Filterable: by paper, question type, and category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41605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9"/>
              </a:spcAft>
              <a:defRPr sz="1300" b="0">
                <a:solidFill>
                  <a:srgbClr val="3A3028"/>
                </a:solidFill>
                <a:latin typeface="DM Sans"/>
              </a:defRPr>
            </a:pPr>
            <a:r>
              <a:t>• Only incorrect answers shown (correct ones filtered out)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1371600" y="4663440"/>
          <a:ext cx="786384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DM Sans"/>
                        </a:defRPr>
                      </a:pPr>
                      <a:r>
                        <a:t>Score Band</a:t>
                      </a:r>
                    </a:p>
                  </a:txBody>
                  <a:tcPr>
                    <a:solidFill>
                      <a:srgbClr val="4A6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DM Sans"/>
                        </a:defRPr>
                      </a:pPr>
                      <a:r>
                        <a:t>Students</a:t>
                      </a:r>
                    </a:p>
                  </a:txBody>
                  <a:tcPr>
                    <a:solidFill>
                      <a:srgbClr val="4A6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DM Sans"/>
                        </a:defRPr>
                      </a:pPr>
                      <a:r>
                        <a:t>Percentage</a:t>
                      </a:r>
                    </a:p>
                  </a:txBody>
                  <a:tcPr>
                    <a:solidFill>
                      <a:srgbClr val="4A6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DM Sans"/>
                        </a:defRPr>
                      </a:pPr>
                      <a:r>
                        <a:t>Visual</a:t>
                      </a:r>
                    </a:p>
                  </a:txBody>
                  <a:tcPr>
                    <a:solidFill>
                      <a:srgbClr val="4A6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0 – 59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16%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████░░░░░░░░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60 – 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████████░░░░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75 – 89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██████████░░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90 – 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███░░░░░░░░░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5943600" y="4846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80"/>
              </a:spcAft>
              <a:defRPr sz="1400" b="0">
                <a:solidFill>
                  <a:srgbClr val="3A3028"/>
                </a:solidFill>
                <a:latin typeface="DM Sans"/>
              </a:defRPr>
            </a:pPr>
            <a:r>
              <a:t>Pass Rate: 84% (21/25)</a:t>
            </a:r>
            <a:br/>
            <a:r>
              <a:t>Avg: 72.5 | Max: 98 | Min: 42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79"/>
              </a:spcAft>
              <a:defRPr sz="900" b="0">
                <a:solidFill>
                  <a:srgbClr val="B8A18A"/>
                </a:solidFill>
                <a:latin typeface="DM Sans"/>
              </a:defRPr>
            </a:pPr>
            <a: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79"/>
              </a:spcAft>
              <a:defRPr sz="3400" b="0">
                <a:solidFill>
                  <a:srgbClr val="1C1612"/>
                </a:solidFill>
                <a:latin typeface="Cormorant Garamond"/>
              </a:defRPr>
            </a:pPr>
            <a:r>
              <a:t>Security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51560"/>
            <a:ext cx="2286000" cy="41148"/>
          </a:xfrm>
          <a:prstGeom prst="rect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500" b="0">
                <a:solidFill>
                  <a:srgbClr val="B8A18A"/>
                </a:solidFill>
                <a:latin typeface="DM Sans"/>
              </a:defRPr>
            </a:pPr>
            <a:r>
              <a:t>5-layer defense — from browser middleware to database encryption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1051560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54864" cy="868680"/>
          </a:xfrm>
          <a:prstGeom prst="rect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5840" y="1783080"/>
            <a:ext cx="914400" cy="274320"/>
          </a:xfrm>
          <a:prstGeom prst="roundRect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DM Sans"/>
              </a:defRPr>
            </a:pPr>
            <a:r>
              <a:t>LAYER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737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C1612"/>
                </a:solidFill>
                <a:latin typeface="DM Sans"/>
              </a:defRPr>
            </a:pPr>
            <a:r>
              <a:t>Frontend Middleware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19" y="2057400"/>
            <a:ext cx="914400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3A3028"/>
                </a:solidFill>
                <a:latin typeface="DM Sans"/>
              </a:defRPr>
            </a:pPr>
            <a:r>
              <a:rPr sz="1050" dirty="0" err="1"/>
              <a:t>Next.js</a:t>
            </a:r>
            <a:r>
              <a:rPr sz="1050" dirty="0"/>
              <a:t> </a:t>
            </a:r>
            <a:r>
              <a:rPr sz="1050" dirty="0" err="1"/>
              <a:t>middleware.ts</a:t>
            </a:r>
            <a:r>
              <a:rPr sz="1050" dirty="0"/>
              <a:t> reads JWT cookie → decodes role → blocks</a:t>
            </a:r>
            <a:r>
              <a:rPr lang="en-US" sz="1050" dirty="0"/>
              <a:t> </a:t>
            </a:r>
            <a:r>
              <a:rPr sz="1050" dirty="0"/>
              <a:t>wrong-role page access before any render.</a:t>
            </a:r>
            <a:r>
              <a:rPr lang="en-US" sz="1050" dirty="0"/>
              <a:t> </a:t>
            </a:r>
            <a:r>
              <a:rPr sz="1050" dirty="0"/>
              <a:t>Student visiting /teacher/* → redirect to /login.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633472"/>
            <a:ext cx="1051560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2633472"/>
            <a:ext cx="54864" cy="868680"/>
          </a:xfrm>
          <a:prstGeom prst="rect">
            <a:avLst/>
          </a:prstGeom>
          <a:solidFill>
            <a:srgbClr val="4A6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05840" y="2770632"/>
            <a:ext cx="914400" cy="274320"/>
          </a:xfrm>
          <a:prstGeom prst="roundRect">
            <a:avLst/>
          </a:prstGeom>
          <a:solidFill>
            <a:srgbClr val="4A6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DM Sans"/>
              </a:defRPr>
            </a:pPr>
            <a:r>
              <a:t>LAYER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27249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C1612"/>
                </a:solidFill>
                <a:latin typeface="DM Sans"/>
              </a:defRPr>
            </a:pPr>
            <a:r>
              <a:t>Spring Security Config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044952"/>
            <a:ext cx="88696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3A3028"/>
                </a:solidFill>
                <a:latin typeface="DM Sans"/>
              </a:defRPr>
            </a:pPr>
            <a:r>
              <a:rPr dirty="0"/>
              <a:t>URL pattern matching with role requirements:</a:t>
            </a:r>
            <a:r>
              <a:rPr lang="en-US" dirty="0"/>
              <a:t> </a:t>
            </a:r>
            <a:r>
              <a:rPr dirty="0"/>
              <a:t>/</a:t>
            </a:r>
            <a:r>
              <a:rPr dirty="0" err="1"/>
              <a:t>api</a:t>
            </a:r>
            <a:r>
              <a:rPr dirty="0"/>
              <a:t>/admin/** → </a:t>
            </a:r>
            <a:r>
              <a:rPr dirty="0" err="1"/>
              <a:t>hasRole</a:t>
            </a:r>
            <a:r>
              <a:rPr dirty="0"/>
              <a:t>('ADMIN') · /</a:t>
            </a:r>
            <a:r>
              <a:rPr dirty="0" err="1"/>
              <a:t>api</a:t>
            </a:r>
            <a:r>
              <a:rPr dirty="0"/>
              <a:t>/auth/** → </a:t>
            </a:r>
            <a:r>
              <a:rPr dirty="0" err="1"/>
              <a:t>permitAll</a:t>
            </a:r>
            <a:r>
              <a:rPr dirty="0"/>
              <a:t>()</a:t>
            </a:r>
            <a:r>
              <a:rPr lang="en-US" dirty="0"/>
              <a:t> </a:t>
            </a:r>
            <a:r>
              <a:rPr dirty="0"/>
              <a:t>Stateless sessions → no CSRF risk.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621024"/>
            <a:ext cx="1051560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3621024"/>
            <a:ext cx="54864" cy="868680"/>
          </a:xfrm>
          <a:prstGeom prst="rect">
            <a:avLst/>
          </a:prstGeom>
          <a:solidFill>
            <a:srgbClr val="A83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05840" y="3758184"/>
            <a:ext cx="914400" cy="274320"/>
          </a:xfrm>
          <a:prstGeom prst="roundRect">
            <a:avLst/>
          </a:prstGeom>
          <a:solidFill>
            <a:srgbClr val="A83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DM Sans"/>
              </a:defRPr>
            </a:pPr>
            <a:r>
              <a:t>LAYER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371246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C1612"/>
                </a:solidFill>
                <a:latin typeface="DM Sans"/>
              </a:defRPr>
            </a:pPr>
            <a:r>
              <a:t>JWT Auth Filter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4032504"/>
            <a:ext cx="88696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3A3028"/>
                </a:solidFill>
                <a:latin typeface="DM Sans"/>
              </a:defRPr>
            </a:pPr>
            <a:r>
              <a:rPr dirty="0" err="1"/>
              <a:t>OncePerRequestFilter</a:t>
            </a:r>
            <a:r>
              <a:rPr dirty="0"/>
              <a:t> extracts Bearer token → validatesHMAC-SHA256 signature → checks expiration (24h) → </a:t>
            </a:r>
            <a:r>
              <a:rPr dirty="0" err="1"/>
              <a:t>setsSpring</a:t>
            </a:r>
            <a:r>
              <a:rPr dirty="0"/>
              <a:t> Security authentication context with role.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608576"/>
            <a:ext cx="1051560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1520" y="4608576"/>
            <a:ext cx="54864" cy="868680"/>
          </a:xfrm>
          <a:prstGeom prst="rect">
            <a:avLst/>
          </a:prstGeom>
          <a:solidFill>
            <a:srgbClr val="8B6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05840" y="4745736"/>
            <a:ext cx="914400" cy="274320"/>
          </a:xfrm>
          <a:prstGeom prst="roundRect">
            <a:avLst/>
          </a:prstGeom>
          <a:solidFill>
            <a:srgbClr val="8B6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DM Sans"/>
              </a:defRPr>
            </a:pPr>
            <a:r>
              <a:t>LAYER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470001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C1612"/>
                </a:solidFill>
                <a:latin typeface="DM Sans"/>
              </a:defRPr>
            </a:pPr>
            <a:r>
              <a:t>Service-Layer Ownership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5020056"/>
            <a:ext cx="88696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3A3028"/>
                </a:solidFill>
                <a:latin typeface="DM Sans"/>
              </a:defRPr>
            </a:pPr>
            <a:r>
              <a:rPr dirty="0"/>
              <a:t>Every write operation verifies ownership:</a:t>
            </a:r>
            <a:r>
              <a:rPr lang="en-US" dirty="0"/>
              <a:t> </a:t>
            </a:r>
            <a:r>
              <a:rPr dirty="0"/>
              <a:t>if (!</a:t>
            </a:r>
            <a:r>
              <a:rPr dirty="0" err="1"/>
              <a:t>paper.getCreatedBy</a:t>
            </a:r>
            <a:r>
              <a:rPr dirty="0"/>
              <a:t>().equals(</a:t>
            </a:r>
            <a:r>
              <a:rPr dirty="0" err="1"/>
              <a:t>currentUser</a:t>
            </a:r>
            <a:r>
              <a:rPr dirty="0"/>
              <a:t>))</a:t>
            </a:r>
            <a:r>
              <a:rPr lang="en-US" dirty="0"/>
              <a:t> </a:t>
            </a:r>
            <a:r>
              <a:rPr dirty="0"/>
              <a:t>throw </a:t>
            </a:r>
            <a:r>
              <a:rPr dirty="0" err="1"/>
              <a:t>BusinessException</a:t>
            </a:r>
            <a:r>
              <a:rPr dirty="0"/>
              <a:t>("Access denied");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5596128"/>
            <a:ext cx="1051560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31520" y="5596128"/>
            <a:ext cx="54864" cy="868680"/>
          </a:xfrm>
          <a:prstGeom prst="rect">
            <a:avLst/>
          </a:prstGeom>
          <a:solidFill>
            <a:srgbClr val="6B4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05840" y="5733288"/>
            <a:ext cx="914400" cy="274320"/>
          </a:xfrm>
          <a:prstGeom prst="roundRect">
            <a:avLst/>
          </a:prstGeom>
          <a:solidFill>
            <a:srgbClr val="6B4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DM Sans"/>
              </a:defRPr>
            </a:pPr>
            <a:r>
              <a:t>LAYER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20" y="56875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C1612"/>
                </a:solidFill>
                <a:latin typeface="DM Sans"/>
              </a:defRPr>
            </a:pPr>
            <a:r>
              <a:t>Data Protection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0" y="6007608"/>
            <a:ext cx="88696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3A3028"/>
                </a:solidFill>
                <a:latin typeface="DM Sans"/>
              </a:defRPr>
            </a:pPr>
            <a:r>
              <a:rPr dirty="0" err="1"/>
              <a:t>BCrypt</a:t>
            </a:r>
            <a:r>
              <a:rPr dirty="0"/>
              <a:t> hashing (10 rounds) · CORS: localhost:3000 only</a:t>
            </a:r>
            <a:r>
              <a:rPr lang="en-US" dirty="0"/>
              <a:t> </a:t>
            </a:r>
            <a:r>
              <a:rPr dirty="0"/>
              <a:t>JPA parameterized queries (SQL injection prevention)</a:t>
            </a:r>
            <a:r>
              <a:rPr lang="en-US" dirty="0"/>
              <a:t> </a:t>
            </a:r>
            <a:r>
              <a:rPr dirty="0"/>
              <a:t>JWT expiry (24h) with client-side 401 interceptor.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79"/>
              </a:spcAft>
              <a:defRPr sz="900" b="0">
                <a:solidFill>
                  <a:srgbClr val="B8A18A"/>
                </a:solidFill>
                <a:latin typeface="DM Sans"/>
              </a:defRPr>
            </a:pPr>
            <a: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79"/>
              </a:spcAft>
              <a:defRPr sz="3400" b="0">
                <a:solidFill>
                  <a:srgbClr val="1C1612"/>
                </a:solidFill>
                <a:latin typeface="Cormorant Garamond"/>
              </a:defRPr>
            </a:pPr>
            <a:r>
              <a:t>Testing &amp;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51560"/>
            <a:ext cx="2286000" cy="41148"/>
          </a:xfrm>
          <a:prstGeom prst="rect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500" b="0">
                <a:solidFill>
                  <a:srgbClr val="B8A18A"/>
                </a:solidFill>
                <a:latin typeface="DM Sans"/>
              </a:defRPr>
            </a:pPr>
            <a:r>
              <a:t>36 test cases — 100% pass rate across all features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737360"/>
            <a:ext cx="2194560" cy="2194560"/>
          </a:xfrm>
          <a:prstGeom prst="ellipse">
            <a:avLst/>
          </a:prstGeom>
          <a:solidFill>
            <a:srgbClr val="4A6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  <a:latin typeface="DM Sans"/>
              </a:defRPr>
            </a:pPr>
            <a: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19"/>
              </a:spcAft>
              <a:defRPr sz="1600" b="1">
                <a:solidFill>
                  <a:srgbClr val="4A6E30"/>
                </a:solidFill>
                <a:latin typeface="DM Sans"/>
              </a:defRPr>
            </a:pPr>
            <a:r>
              <a:t>36/36 Passed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474720" y="1737360"/>
          <a:ext cx="6766560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DM Sans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B573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DM Sans"/>
                        </a:defRPr>
                      </a:pPr>
                      <a:r>
                        <a:t>Tests</a:t>
                      </a:r>
                    </a:p>
                  </a:txBody>
                  <a:tcPr>
                    <a:solidFill>
                      <a:srgbClr val="B573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DM Sans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B573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DM Sans"/>
                        </a:defRPr>
                      </a:pPr>
                      <a:r>
                        <a:t>Key Edge Cases</a:t>
                      </a:r>
                    </a:p>
                  </a:txBody>
                  <a:tcPr>
                    <a:solidFill>
                      <a:srgbClr val="B573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Authentication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✅✅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Valid login · Invalid password rejection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Authorization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✅✅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Student → /teacher/* blocked · Teacher → /admin/* blocked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Question Bank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✅✅✅✅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Create SINGLE · Create FILL · Search · Filter by type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Paper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✅✅✅✅✅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Create · Add Qs · Remove Qs · Publish · Modify protection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Rule Assembly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✅✅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Valid assembly · Insufficient pool → error + rollback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Exam Session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✅✅✅✅✅✅✅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Timer · Auto-save · Navigation · Auto-submit · Anti-dup · Resume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Auto-Grading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✅✅✅✅✅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SINGLE · MULTIPLE (set) · TRUEFALSE · FILL (3 modes) · Pass/Fail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Score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✅✅✅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Student history · Teacher stats · Distribution bands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Wrong Answers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✅✅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Review with explanation · Cross-paper deduplication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Admin + Profile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✅✅✅✅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List users · Create teacher · Registration · Update profile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79"/>
              </a:spcAft>
              <a:defRPr sz="900" b="0">
                <a:solidFill>
                  <a:srgbClr val="B8A18A"/>
                </a:solidFill>
                <a:latin typeface="DM Sans"/>
              </a:defRPr>
            </a:pPr>
            <a: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79"/>
              </a:spcAft>
              <a:defRPr sz="3400" b="0">
                <a:solidFill>
                  <a:srgbClr val="1C1612"/>
                </a:solidFill>
                <a:latin typeface="Cormorant Garamond"/>
              </a:defRPr>
            </a:pPr>
            <a:r>
              <a:t>Challenges Encountered &amp;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51560"/>
            <a:ext cx="2286000" cy="41148"/>
          </a:xfrm>
          <a:prstGeom prst="rect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39496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394960" cy="45720"/>
          </a:xfrm>
          <a:prstGeom prst="rect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80"/>
              </a:spcAft>
              <a:defRPr sz="1400" b="1">
                <a:solidFill>
                  <a:srgbClr val="1C1612"/>
                </a:solidFill>
                <a:latin typeface="DM Sans"/>
              </a:defRPr>
            </a:pPr>
            <a:r>
              <a:t>Spring Security 6 DSL Migration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3A3028"/>
                </a:solidFill>
                <a:latin typeface="DM Sans"/>
              </a:defRPr>
            </a:pPr>
            <a:r>
              <a:t>Problem: Deprecated method chaining caused compilation errors in SecurityConfig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1031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3A3028"/>
                </a:solidFill>
                <a:latin typeface="DM Sans"/>
              </a:defRPr>
            </a:pPr>
            <a:r>
              <a:t>Solution: Adapted to new lambda DSL:</a:t>
            </a:r>
            <a:br/>
            <a:r>
              <a:t>.cors(cors -&gt; cors.configurationSource(...))</a:t>
            </a:r>
            <a:br/>
            <a:r>
              <a:t>.csrf(AbstractHttpConfigurer::disable)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645920"/>
            <a:ext cx="539496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92240" y="1645920"/>
            <a:ext cx="5394960" cy="45720"/>
          </a:xfrm>
          <a:prstGeom prst="rect">
            <a:avLst/>
          </a:prstGeom>
          <a:solidFill>
            <a:srgbClr val="4A6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20840" y="17830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80"/>
              </a:spcAft>
              <a:defRPr sz="1400" b="1">
                <a:solidFill>
                  <a:srgbClr val="1C1612"/>
                </a:solidFill>
                <a:latin typeface="DM Sans"/>
              </a:defRPr>
            </a:pPr>
            <a:r>
              <a:t>CORS with Credentials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3A3028"/>
                </a:solidFill>
                <a:latin typeface="DM Sans"/>
              </a:defRPr>
            </a:pPr>
            <a:r>
              <a:t>Problem: Wildcard origin '*' not allowed with allowCredentials(true)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1031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3A3028"/>
                </a:solidFill>
                <a:latin typeface="DM Sans"/>
              </a:defRPr>
            </a:pPr>
            <a:r>
              <a:t>Solution: Explicit origin whitelist:</a:t>
            </a:r>
            <a:br/>
            <a:r>
              <a:t>List.of("http://localhost:3000")</a:t>
            </a:r>
            <a:br/>
            <a:r>
              <a:t>with allowCredentials(true)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337560"/>
            <a:ext cx="539496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3337560"/>
            <a:ext cx="5394960" cy="45720"/>
          </a:xfrm>
          <a:prstGeom prst="rect">
            <a:avLst/>
          </a:prstGeom>
          <a:solidFill>
            <a:srgbClr val="A83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34747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80"/>
              </a:spcAft>
              <a:defRPr sz="1400" b="1">
                <a:solidFill>
                  <a:srgbClr val="1C1612"/>
                </a:solidFill>
                <a:latin typeface="DM Sans"/>
              </a:defRPr>
            </a:pPr>
            <a:r>
              <a:t>Multiple Choice Grading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794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3A3028"/>
                </a:solidFill>
                <a:latin typeface="DM Sans"/>
              </a:defRPr>
            </a:pPr>
            <a:r>
              <a:t>Problem: How to score partial answers fairly?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7947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3A3028"/>
                </a:solidFill>
                <a:latin typeface="DM Sans"/>
              </a:defRPr>
            </a:pPr>
            <a:r>
              <a:t>Solution: Strict set equality via Set.equals()</a:t>
            </a:r>
            <a:br/>
            <a:r>
              <a:t>Matches professional exam standards</a:t>
            </a:r>
            <a:br/>
            <a:r>
              <a:t>(CISSP, AWS certifications)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3337560"/>
            <a:ext cx="539496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92240" y="3337560"/>
            <a:ext cx="5394960" cy="45720"/>
          </a:xfrm>
          <a:prstGeom prst="rect">
            <a:avLst/>
          </a:prstGeom>
          <a:solidFill>
            <a:srgbClr val="8B6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20840" y="34747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80"/>
              </a:spcAft>
              <a:defRPr sz="1400" b="1">
                <a:solidFill>
                  <a:srgbClr val="1C1612"/>
                </a:solidFill>
                <a:latin typeface="DM Sans"/>
              </a:defRPr>
            </a:pPr>
            <a:r>
              <a:t>Timer Drift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3794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3A3028"/>
                </a:solidFill>
                <a:latin typeface="DM Sans"/>
              </a:defRPr>
            </a:pPr>
            <a:r>
              <a:t>Problem: JavaScript setInterval not guaranteed 1000ms accuracy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37947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3A3028"/>
                </a:solidFill>
                <a:latin typeface="DM Sans"/>
              </a:defRPr>
            </a:pPr>
            <a:r>
              <a:t>Solution: Server startTime as source of truth</a:t>
            </a:r>
            <a:br/>
            <a:r>
              <a:t>Client timer is display-only</a:t>
            </a:r>
            <a:br/>
            <a:r>
              <a:t>Server enforces deadline independently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029200"/>
            <a:ext cx="539496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31520" y="5029200"/>
            <a:ext cx="5394960" cy="45720"/>
          </a:xfrm>
          <a:prstGeom prst="rect">
            <a:avLst/>
          </a:prstGeom>
          <a:solidFill>
            <a:srgbClr val="3E6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0120" y="51663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80"/>
              </a:spcAft>
              <a:defRPr sz="1400" b="1">
                <a:solidFill>
                  <a:srgbClr val="1C1612"/>
                </a:solidFill>
                <a:latin typeface="DM Sans"/>
              </a:defRPr>
            </a:pPr>
            <a:r>
              <a:t>Auto-Save Stale Closures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5486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3A3028"/>
                </a:solidFill>
                <a:latin typeface="DM Sans"/>
              </a:defRPr>
            </a:pPr>
            <a:r>
              <a:t>Problem: 30-second interval captured stale React state from initial render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54864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3A3028"/>
                </a:solidFill>
                <a:latin typeface="DM Sans"/>
              </a:defRPr>
            </a:pPr>
            <a:r>
              <a:t>Solution: useRef() always points to latest answers</a:t>
            </a:r>
            <a:br/>
            <a:r>
              <a:t>ref.current = answers on every state change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5029200"/>
            <a:ext cx="539496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92240" y="5029200"/>
            <a:ext cx="5394960" cy="45720"/>
          </a:xfrm>
          <a:prstGeom prst="rect">
            <a:avLst/>
          </a:prstGeom>
          <a:solidFill>
            <a:srgbClr val="6B3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20840" y="51663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80"/>
              </a:spcAft>
              <a:defRPr sz="1400" b="1">
                <a:solidFill>
                  <a:srgbClr val="1C1612"/>
                </a:solidFill>
                <a:latin typeface="DM Sans"/>
              </a:defRPr>
            </a:pPr>
            <a:r>
              <a:t>Apple Silicon Compatibility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5486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3A3028"/>
                </a:solidFill>
                <a:latin typeface="DM Sans"/>
              </a:defRPr>
            </a:pPr>
            <a:r>
              <a:t>Problem: Some tools lacked ARM-native builds for macOS M1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54864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3A3028"/>
                </a:solidFill>
                <a:latin typeface="DM Sans"/>
              </a:defRPr>
            </a:pPr>
            <a:r>
              <a:t>Solution: Used ARM-native Homebrew packages:</a:t>
            </a:r>
            <a:br/>
            <a:r>
              <a:t>openjdk@17 · MySQL 8 ARM</a:t>
            </a:r>
            <a:br/>
            <a:r>
              <a:t>All npm packages are platform-independent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79"/>
              </a:spcAft>
              <a:defRPr sz="900" b="0">
                <a:solidFill>
                  <a:srgbClr val="B8A18A"/>
                </a:solidFill>
                <a:latin typeface="DM Sans"/>
              </a:defRPr>
            </a:pPr>
            <a: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79"/>
              </a:spcAft>
              <a:defRPr sz="3400" b="0">
                <a:solidFill>
                  <a:srgbClr val="1C1612"/>
                </a:solidFill>
                <a:latin typeface="Cormorant Garamond"/>
              </a:defRPr>
            </a:pPr>
            <a:r>
              <a:t>Live Demonstration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51560"/>
            <a:ext cx="2286000" cy="41148"/>
          </a:xfrm>
          <a:prstGeom prst="rect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500" b="0">
                <a:solidFill>
                  <a:srgbClr val="B8A18A"/>
                </a:solidFill>
                <a:latin typeface="DM Sans"/>
              </a:defRPr>
            </a:pPr>
            <a:r>
              <a:t>Walkthrough of the complete exam lifecycle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1737360"/>
            <a:ext cx="457200" cy="457200"/>
          </a:xfrm>
          <a:prstGeom prst="ellipse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DM Sans"/>
              </a:defRPr>
            </a:pPr>
            <a: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307592" y="2240280"/>
            <a:ext cx="27432" cy="274320"/>
          </a:xfrm>
          <a:prstGeom prst="rect">
            <a:avLst/>
          </a:prstGeom>
          <a:solidFill>
            <a:srgbClr val="C4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0" y="1737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9"/>
              </a:spcAft>
              <a:defRPr sz="1700" b="1">
                <a:solidFill>
                  <a:srgbClr val="1C1612"/>
                </a:solidFill>
                <a:latin typeface="DM Sans"/>
              </a:defRPr>
            </a:pPr>
            <a:r>
              <a:t>Login as Teacher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0574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9"/>
              </a:spcAft>
              <a:defRPr sz="1300" b="0">
                <a:solidFill>
                  <a:srgbClr val="3A3028"/>
                </a:solidFill>
                <a:latin typeface="DM Sans"/>
              </a:defRPr>
            </a:pPr>
            <a:r>
              <a:t>teacher1@examflow.com → Dashboard with 3 module cards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" y="2542032"/>
            <a:ext cx="457200" cy="457200"/>
          </a:xfrm>
          <a:prstGeom prst="ellipse">
            <a:avLst/>
          </a:prstGeom>
          <a:solidFill>
            <a:srgbClr val="4A6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DM Sans"/>
              </a:defRPr>
            </a:pPr>
            <a: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07592" y="3044952"/>
            <a:ext cx="27432" cy="274320"/>
          </a:xfrm>
          <a:prstGeom prst="rect">
            <a:avLst/>
          </a:prstGeom>
          <a:solidFill>
            <a:srgbClr val="C4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828800" y="25420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9"/>
              </a:spcAft>
              <a:defRPr sz="1700" b="1">
                <a:solidFill>
                  <a:srgbClr val="1C1612"/>
                </a:solidFill>
                <a:latin typeface="DM Sans"/>
              </a:defRPr>
            </a:pPr>
            <a:r>
              <a:t>Create a 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86207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9"/>
              </a:spcAft>
              <a:defRPr sz="1300" b="0">
                <a:solidFill>
                  <a:srgbClr val="3A3028"/>
                </a:solidFill>
                <a:latin typeface="DM Sans"/>
              </a:defRPr>
            </a:pPr>
            <a:r>
              <a:t>SINGLE choice: "Capital of France?" → Saved to question bank</a:t>
            </a:r>
          </a:p>
        </p:txBody>
      </p:sp>
      <p:sp>
        <p:nvSpPr>
          <p:cNvPr id="15" name="Oval 14"/>
          <p:cNvSpPr/>
          <p:nvPr/>
        </p:nvSpPr>
        <p:spPr>
          <a:xfrm>
            <a:off x="1097280" y="3346704"/>
            <a:ext cx="457200" cy="457200"/>
          </a:xfrm>
          <a:prstGeom prst="ellipse">
            <a:avLst/>
          </a:prstGeom>
          <a:solidFill>
            <a:srgbClr val="A83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DM Sans"/>
              </a:defRPr>
            </a:pPr>
            <a: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07592" y="3849624"/>
            <a:ext cx="27432" cy="274320"/>
          </a:xfrm>
          <a:prstGeom prst="rect">
            <a:avLst/>
          </a:prstGeom>
          <a:solidFill>
            <a:srgbClr val="C4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828800" y="334670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9"/>
              </a:spcAft>
              <a:defRPr sz="1700" b="1">
                <a:solidFill>
                  <a:srgbClr val="1C1612"/>
                </a:solidFill>
                <a:latin typeface="DM Sans"/>
              </a:defRPr>
            </a:pPr>
            <a:r>
              <a:t>Create &amp; Assemble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666744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9"/>
              </a:spcAft>
              <a:defRPr sz="1300" b="0">
                <a:solidFill>
                  <a:srgbClr val="3A3028"/>
                </a:solidFill>
                <a:latin typeface="DM Sans"/>
              </a:defRPr>
            </a:pPr>
            <a:r>
              <a:t>New paper (10 min, pass 60%) → Rule Assembly: 3 SINGLE + 2 T/F → Publish</a:t>
            </a:r>
          </a:p>
        </p:txBody>
      </p:sp>
      <p:sp>
        <p:nvSpPr>
          <p:cNvPr id="19" name="Oval 18"/>
          <p:cNvSpPr/>
          <p:nvPr/>
        </p:nvSpPr>
        <p:spPr>
          <a:xfrm>
            <a:off x="1097280" y="4151376"/>
            <a:ext cx="457200" cy="457200"/>
          </a:xfrm>
          <a:prstGeom prst="ellipse">
            <a:avLst/>
          </a:prstGeom>
          <a:solidFill>
            <a:srgbClr val="8B6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DM Sans"/>
              </a:defRPr>
            </a:pPr>
            <a: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07592" y="4654296"/>
            <a:ext cx="27432" cy="274320"/>
          </a:xfrm>
          <a:prstGeom prst="rect">
            <a:avLst/>
          </a:prstGeom>
          <a:solidFill>
            <a:srgbClr val="C4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828800" y="415137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9"/>
              </a:spcAft>
              <a:defRPr sz="1700" b="1">
                <a:solidFill>
                  <a:srgbClr val="1C1612"/>
                </a:solidFill>
                <a:latin typeface="DM Sans"/>
              </a:defRPr>
            </a:pPr>
            <a:r>
              <a:t>Student Takes Exam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471416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9"/>
              </a:spcAft>
              <a:defRPr sz="1300" b="0">
                <a:solidFill>
                  <a:srgbClr val="3A3028"/>
                </a:solidFill>
                <a:latin typeface="DM Sans"/>
              </a:defRPr>
            </a:pPr>
            <a:r>
              <a:t>Login as student → Start exam → Timer counts down → Answer questions</a:t>
            </a:r>
          </a:p>
        </p:txBody>
      </p:sp>
      <p:sp>
        <p:nvSpPr>
          <p:cNvPr id="23" name="Oval 22"/>
          <p:cNvSpPr/>
          <p:nvPr/>
        </p:nvSpPr>
        <p:spPr>
          <a:xfrm>
            <a:off x="1097280" y="4956048"/>
            <a:ext cx="457200" cy="457200"/>
          </a:xfrm>
          <a:prstGeom prst="ellipse">
            <a:avLst/>
          </a:prstGeom>
          <a:solidFill>
            <a:srgbClr val="3E6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DM Sans"/>
              </a:defRPr>
            </a:pPr>
            <a: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07592" y="5458968"/>
            <a:ext cx="27432" cy="274320"/>
          </a:xfrm>
          <a:prstGeom prst="rect">
            <a:avLst/>
          </a:prstGeom>
          <a:solidFill>
            <a:srgbClr val="C4B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828800" y="49560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9"/>
              </a:spcAft>
              <a:defRPr sz="1700" b="1">
                <a:solidFill>
                  <a:srgbClr val="1C1612"/>
                </a:solidFill>
                <a:latin typeface="DM Sans"/>
              </a:defRPr>
            </a:pPr>
            <a:r>
              <a:t>Auto-Save &amp; Submit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27608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9"/>
              </a:spcAft>
              <a:defRPr sz="1300" b="0">
                <a:solidFill>
                  <a:srgbClr val="3A3028"/>
                </a:solidFill>
                <a:latin typeface="DM Sans"/>
              </a:defRPr>
            </a:pPr>
            <a:r>
              <a:t>Answers auto-saved every 30s → Submit → Immediate grading</a:t>
            </a:r>
          </a:p>
        </p:txBody>
      </p:sp>
      <p:sp>
        <p:nvSpPr>
          <p:cNvPr id="27" name="Oval 26"/>
          <p:cNvSpPr/>
          <p:nvPr/>
        </p:nvSpPr>
        <p:spPr>
          <a:xfrm>
            <a:off x="1097280" y="5760720"/>
            <a:ext cx="457200" cy="457200"/>
          </a:xfrm>
          <a:prstGeom prst="ellipse">
            <a:avLst/>
          </a:prstGeom>
          <a:solidFill>
            <a:srgbClr val="6B3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DM Sans"/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5760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9"/>
              </a:spcAft>
              <a:defRPr sz="1700" b="1">
                <a:solidFill>
                  <a:srgbClr val="1C1612"/>
                </a:solidFill>
                <a:latin typeface="DM Sans"/>
              </a:defRPr>
            </a:pPr>
            <a:r>
              <a:t>View Results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60807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9"/>
              </a:spcAft>
              <a:defRPr sz="1300" b="0">
                <a:solidFill>
                  <a:srgbClr val="3A3028"/>
                </a:solidFill>
                <a:latin typeface="DM Sans"/>
              </a:defRPr>
            </a:pPr>
            <a:r>
              <a:t>Student: score + wrong answer notebook · Teacher: statistics + distribution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6400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59"/>
              </a:spcAft>
              <a:defRPr sz="1300" b="0">
                <a:solidFill>
                  <a:srgbClr val="B8A18A"/>
                </a:solidFill>
                <a:latin typeface="DM Sans"/>
              </a:defRPr>
            </a:pPr>
            <a:r>
              <a:t>⏱️ Demo time: ~5-7 minutes  ·  Have both servers running + database seeded before starting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79"/>
              </a:spcAft>
              <a:defRPr sz="900" b="0">
                <a:solidFill>
                  <a:srgbClr val="B8A18A"/>
                </a:solidFill>
                <a:latin typeface="DM Sans"/>
              </a:defRPr>
            </a:pPr>
            <a: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79"/>
              </a:spcAft>
              <a:defRPr sz="3400" b="0">
                <a:solidFill>
                  <a:srgbClr val="1C1612"/>
                </a:solidFill>
                <a:latin typeface="Cormorant Garamond"/>
              </a:defRPr>
            </a:pPr>
            <a:r>
              <a:t>Project Statistics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51560"/>
            <a:ext cx="2286000" cy="41148"/>
          </a:xfrm>
          <a:prstGeom prst="rect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05840" y="1737360"/>
            <a:ext cx="1371600" cy="1371600"/>
          </a:xfrm>
          <a:prstGeom prst="ellipse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  <a:latin typeface="DM Sans"/>
              </a:defRPr>
            </a:pPr>
            <a:r>
              <a:rPr sz="1400" dirty="0"/>
              <a:t>60+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80"/>
              </a:spcAft>
              <a:defRPr sz="1400" b="0">
                <a:solidFill>
                  <a:srgbClr val="B8A18A"/>
                </a:solidFill>
                <a:latin typeface="DM Sans"/>
              </a:defRPr>
            </a:pPr>
            <a:r>
              <a:t>Source Files</a:t>
            </a:r>
          </a:p>
        </p:txBody>
      </p:sp>
      <p:sp>
        <p:nvSpPr>
          <p:cNvPr id="8" name="Oval 7"/>
          <p:cNvSpPr/>
          <p:nvPr/>
        </p:nvSpPr>
        <p:spPr>
          <a:xfrm>
            <a:off x="2926080" y="1737360"/>
            <a:ext cx="1371600" cy="1371600"/>
          </a:xfrm>
          <a:prstGeom prst="ellipse">
            <a:avLst/>
          </a:prstGeom>
          <a:solidFill>
            <a:srgbClr val="4A6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  <a:latin typeface="DM Sans"/>
              </a:defRPr>
            </a:pPr>
            <a:r>
              <a:rPr sz="1400" dirty="0"/>
              <a:t>~8,000</a:t>
            </a:r>
            <a:r>
              <a:rPr lang="en-US" sz="1400" dirty="0"/>
              <a:t>+</a:t>
            </a:r>
            <a:endParaRPr sz="1400" dirty="0"/>
          </a:p>
        </p:txBody>
      </p:sp>
      <p:sp>
        <p:nvSpPr>
          <p:cNvPr id="9" name="TextBox 8"/>
          <p:cNvSpPr txBox="1"/>
          <p:nvPr/>
        </p:nvSpPr>
        <p:spPr>
          <a:xfrm>
            <a:off x="2651760" y="32461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80"/>
              </a:spcAft>
              <a:defRPr sz="1400" b="0">
                <a:solidFill>
                  <a:srgbClr val="B8A18A"/>
                </a:solidFill>
                <a:latin typeface="DM Sans"/>
              </a:defRPr>
            </a:pPr>
            <a:r>
              <a:t>Lines of Code</a:t>
            </a:r>
          </a:p>
        </p:txBody>
      </p:sp>
      <p:sp>
        <p:nvSpPr>
          <p:cNvPr id="10" name="Oval 9"/>
          <p:cNvSpPr/>
          <p:nvPr/>
        </p:nvSpPr>
        <p:spPr>
          <a:xfrm>
            <a:off x="4846320" y="1737360"/>
            <a:ext cx="1371600" cy="1371600"/>
          </a:xfrm>
          <a:prstGeom prst="ellipse">
            <a:avLst/>
          </a:prstGeom>
          <a:solidFill>
            <a:srgbClr val="A83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  <a:latin typeface="DM Sans"/>
              </a:defRPr>
            </a:pPr>
            <a:r>
              <a:rPr sz="1400" dirty="0"/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2461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80"/>
              </a:spcAft>
              <a:defRPr sz="1400" b="0">
                <a:solidFill>
                  <a:srgbClr val="B8A18A"/>
                </a:solidFill>
                <a:latin typeface="DM Sans"/>
              </a:defRPr>
            </a:pPr>
            <a:r>
              <a:t>Database Tables</a:t>
            </a:r>
          </a:p>
        </p:txBody>
      </p:sp>
      <p:sp>
        <p:nvSpPr>
          <p:cNvPr id="12" name="Oval 11"/>
          <p:cNvSpPr/>
          <p:nvPr/>
        </p:nvSpPr>
        <p:spPr>
          <a:xfrm>
            <a:off x="6766560" y="1737360"/>
            <a:ext cx="1371600" cy="1371600"/>
          </a:xfrm>
          <a:prstGeom prst="ellipse">
            <a:avLst/>
          </a:prstGeom>
          <a:solidFill>
            <a:srgbClr val="8B6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  <a:latin typeface="DM Sans"/>
              </a:defRPr>
            </a:pPr>
            <a:r>
              <a:rPr sz="1400" dirty="0"/>
              <a:t>30+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2461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80"/>
              </a:spcAft>
              <a:defRPr sz="1400" b="0">
                <a:solidFill>
                  <a:srgbClr val="B8A18A"/>
                </a:solidFill>
                <a:latin typeface="DM Sans"/>
              </a:defRPr>
            </a:pPr>
            <a:r>
              <a:t>API Endpoints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0" y="1737360"/>
            <a:ext cx="1371600" cy="1371600"/>
          </a:xfrm>
          <a:prstGeom prst="ellipse">
            <a:avLst/>
          </a:prstGeom>
          <a:solidFill>
            <a:srgbClr val="3E6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  <a:latin typeface="DM Sans"/>
              </a:defRPr>
            </a:pPr>
            <a:r>
              <a:rPr sz="1400" dirty="0"/>
              <a:t>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2461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80"/>
              </a:spcAft>
              <a:defRPr sz="1400" b="0">
                <a:solidFill>
                  <a:srgbClr val="B8A18A"/>
                </a:solidFill>
                <a:latin typeface="DM Sans"/>
              </a:defRPr>
            </a:pPr>
            <a:r>
              <a:t>Test Cases</a:t>
            </a:r>
          </a:p>
        </p:txBody>
      </p:sp>
      <p:sp>
        <p:nvSpPr>
          <p:cNvPr id="16" name="Oval 15"/>
          <p:cNvSpPr/>
          <p:nvPr/>
        </p:nvSpPr>
        <p:spPr>
          <a:xfrm>
            <a:off x="10607040" y="1737360"/>
            <a:ext cx="1371600" cy="1371600"/>
          </a:xfrm>
          <a:prstGeom prst="ellipse">
            <a:avLst/>
          </a:prstGeom>
          <a:solidFill>
            <a:srgbClr val="6B3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  <a:latin typeface="DM Sans"/>
              </a:defRPr>
            </a:pPr>
            <a:r>
              <a:rPr sz="1400" dirty="0"/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32461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80"/>
              </a:spcAft>
              <a:defRPr sz="1400" b="0">
                <a:solidFill>
                  <a:srgbClr val="B8A18A"/>
                </a:solidFill>
                <a:latin typeface="DM Sans"/>
              </a:defRPr>
            </a:pPr>
            <a:r>
              <a:t>Dev Days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731520" y="3749039"/>
          <a:ext cx="1097280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DM Sans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B573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DM Sans"/>
                        </a:defRPr>
                      </a:pPr>
                      <a:r>
                        <a:t>Backend (Java)</a:t>
                      </a:r>
                    </a:p>
                  </a:txBody>
                  <a:tcPr>
                    <a:solidFill>
                      <a:srgbClr val="B573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DM Sans"/>
                        </a:defRPr>
                      </a:pPr>
                      <a:r>
                        <a:t>Frontend (TypeScript)</a:t>
                      </a:r>
                    </a:p>
                  </a:txBody>
                  <a:tcPr>
                    <a:solidFill>
                      <a:srgbClr val="B573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Controllers / Pages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7 Controllers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16 Page Components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Services / Components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5 Services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4 Shared Components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Entities / Lib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11 JPA Entities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2 Library Modules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Repositories / Middleware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10 Repositories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1 Middleware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DTOs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16 DTOs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3 Classes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Config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application.yml + pom.xml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5 Config Files</a:t>
                      </a:r>
                    </a:p>
                  </a:txBody>
                  <a:tcPr>
                    <a:solidFill>
                      <a:srgbClr val="FA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SQL / Styles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2 SQL Files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028"/>
                          </a:solidFill>
                          <a:latin typeface="DM Sans"/>
                        </a:defRPr>
                      </a:pPr>
                      <a:r>
                        <a:t>1 Global CSS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79"/>
              </a:spcAft>
              <a:defRPr sz="900" b="0">
                <a:solidFill>
                  <a:srgbClr val="B8A18A"/>
                </a:solidFill>
                <a:latin typeface="DM Sans"/>
              </a:defRPr>
            </a:pPr>
            <a: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6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73152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59"/>
              </a:spcAft>
              <a:defRPr sz="4800" b="0">
                <a:solidFill>
                  <a:srgbClr val="FFFFFF"/>
                </a:solidFill>
                <a:latin typeface="Cormorant Garamond"/>
              </a:defRPr>
            </a:pPr>
            <a: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508760"/>
            <a:ext cx="2743200" cy="45720"/>
          </a:xfrm>
          <a:prstGeom prst="rect">
            <a:avLst/>
          </a:prstGeom>
          <a:solidFill>
            <a:srgbClr val="B57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192024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500" b="0">
                <a:solidFill>
                  <a:srgbClr val="E8D5B5"/>
                </a:solidFill>
                <a:latin typeface="DM Sans"/>
              </a:defRPr>
            </a:pPr>
            <a:r>
              <a:t>✅  Full-stack application with decoupled architecture (Next.js + Spring Boot)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33172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500" b="0">
                <a:solidFill>
                  <a:srgbClr val="E8D5B5"/>
                </a:solidFill>
                <a:latin typeface="DM Sans"/>
              </a:defRPr>
            </a:pPr>
            <a:r>
              <a:t>✅  Three-role RBAC with JWT authentication and 5-layer 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74320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500" b="0">
                <a:solidFill>
                  <a:srgbClr val="E8D5B5"/>
                </a:solidFill>
                <a:latin typeface="DM Sans"/>
              </a:defRPr>
            </a:pPr>
            <a:r>
              <a:t>✅  Intelligent paper assembly — rule-based auto-selection algorithm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15468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500" b="0">
                <a:solidFill>
                  <a:srgbClr val="E8D5B5"/>
                </a:solidFill>
                <a:latin typeface="DM Sans"/>
              </a:defRPr>
            </a:pPr>
            <a:r>
              <a:t>✅  Real-time exam interface — countdown timer, auto-save, crash resume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6616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500" b="0">
                <a:solidFill>
                  <a:srgbClr val="E8D5B5"/>
                </a:solidFill>
                <a:latin typeface="DM Sans"/>
              </a:defRPr>
            </a:pPr>
            <a:r>
              <a:t>✅  Automatic grading for 4 question types with configurable matching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977639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500" b="0">
                <a:solidFill>
                  <a:srgbClr val="E8D5B5"/>
                </a:solidFill>
                <a:latin typeface="DM Sans"/>
              </a:defRPr>
            </a:pPr>
            <a:r>
              <a:t>✅  Score analysis with distribution statistics and wrong-answer notebook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38912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500" b="0">
                <a:solidFill>
                  <a:srgbClr val="E8D5B5"/>
                </a:solidFill>
                <a:latin typeface="DM Sans"/>
              </a:defRPr>
            </a:pPr>
            <a:r>
              <a:t>✅  11-table normalized database with proper FK constraints and indexing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80060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500" b="0">
                <a:solidFill>
                  <a:srgbClr val="E8D5B5"/>
                </a:solidFill>
                <a:latin typeface="DM Sans"/>
              </a:defRPr>
            </a:pPr>
            <a:r>
              <a:t>✅  36 test cases executed — 100% pass rate on first run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39496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19"/>
              </a:spcAft>
              <a:defRPr sz="1600" b="0">
                <a:solidFill>
                  <a:srgbClr val="B5732A"/>
                </a:solidFill>
                <a:latin typeface="DM Sans"/>
              </a:defRPr>
            </a:pPr>
            <a:r>
              <a:t>Spring Boot 3.2  ·  Next.js 14  ·  React 18  ·  TypeScript  ·  MySQL 8  ·  JWT  ·  Tailwind CSS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9436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19"/>
              </a:spcAft>
              <a:defRPr sz="3600" b="0">
                <a:solidFill>
                  <a:srgbClr val="FFFFFF"/>
                </a:solidFill>
                <a:latin typeface="Cormorant Garamond"/>
              </a:defRPr>
            </a:pPr>
            <a:r>
              <a:t>Thank You!  ·  Questions &amp; Discussion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79"/>
              </a:spcAft>
              <a:defRPr sz="900" b="0">
                <a:solidFill>
                  <a:srgbClr val="B8A18A"/>
                </a:solidFill>
                <a:latin typeface="DM Sans"/>
              </a:defRPr>
            </a:pPr>
            <a: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2733</Words>
  <Application>Microsoft Macintosh PowerPoint</Application>
  <PresentationFormat>Widescreen</PresentationFormat>
  <Paragraphs>528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mac</cp:lastModifiedBy>
  <cp:revision>2</cp:revision>
  <dcterms:created xsi:type="dcterms:W3CDTF">2013-01-27T09:14:16Z</dcterms:created>
  <dcterms:modified xsi:type="dcterms:W3CDTF">2026-06-06T21:26:31Z</dcterms:modified>
  <cp:category/>
</cp:coreProperties>
</file>